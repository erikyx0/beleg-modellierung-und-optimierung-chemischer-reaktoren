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4" r:id="rId2"/>
  </p:sldMasterIdLst>
  <p:notesMasterIdLst>
    <p:notesMasterId r:id="rId10"/>
  </p:notesMasterIdLst>
  <p:sldIdLst>
    <p:sldId id="256" r:id="rId3"/>
    <p:sldId id="305" r:id="rId4"/>
    <p:sldId id="306" r:id="rId5"/>
    <p:sldId id="308" r:id="rId6"/>
    <p:sldId id="309" r:id="rId7"/>
    <p:sldId id="310" r:id="rId8"/>
    <p:sldId id="287" r:id="rId9"/>
  </p:sldIdLst>
  <p:sldSz cx="12192000" cy="6858000"/>
  <p:notesSz cx="7010400" cy="9296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11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ris André Jost" initials="LAJ" lastIdx="2" clrIdx="0">
    <p:extLst>
      <p:ext uri="{19B8F6BF-5375-455C-9EA6-DF929625EA0E}">
        <p15:presenceInfo xmlns:p15="http://schemas.microsoft.com/office/powerpoint/2012/main" userId="S-1-5-21-3346626551-2291581799-713811937-62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A8"/>
    <a:srgbClr val="A1D9EF"/>
    <a:srgbClr val="B4D8AE"/>
    <a:srgbClr val="FFA800"/>
    <a:srgbClr val="AFABAB"/>
    <a:srgbClr val="AAB8D1"/>
    <a:srgbClr val="004A7D"/>
    <a:srgbClr val="E7EDF3"/>
    <a:srgbClr val="429D88"/>
    <a:srgbClr val="94C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56B82-2027-4972-B6B3-55B9DBFB18D3}" v="18" dt="2026-02-12T15:57:51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80751" autoAdjust="0"/>
  </p:normalViewPr>
  <p:slideViewPr>
    <p:cSldViewPr snapToGrid="0" showGuides="1">
      <p:cViewPr varScale="1">
        <p:scale>
          <a:sx n="78" d="100"/>
          <a:sy n="78" d="100"/>
        </p:scale>
        <p:origin x="774" y="42"/>
      </p:cViewPr>
      <p:guideLst>
        <p:guide orient="horz" pos="3407"/>
        <p:guide pos="3840"/>
        <p:guide orient="horz" pos="686"/>
        <p:guide pos="438"/>
        <p:guide orient="horz" pos="11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 Domogalla" userId="5acd3f83243d5ceb" providerId="LiveId" clId="{66A855BD-6316-4420-8C1E-DE415AE6F986}"/>
    <pc:docChg chg="undo custSel modSld modMainMaster">
      <pc:chgData name="Erik Domogalla" userId="5acd3f83243d5ceb" providerId="LiveId" clId="{66A855BD-6316-4420-8C1E-DE415AE6F986}" dt="2026-02-12T15:58:21.789" v="200" actId="1076"/>
      <pc:docMkLst>
        <pc:docMk/>
      </pc:docMkLst>
      <pc:sldChg chg="addSp modSp mod">
        <pc:chgData name="Erik Domogalla" userId="5acd3f83243d5ceb" providerId="LiveId" clId="{66A855BD-6316-4420-8C1E-DE415AE6F986}" dt="2026-02-12T15:58:21.789" v="200" actId="1076"/>
        <pc:sldMkLst>
          <pc:docMk/>
          <pc:sldMk cId="741997725" sldId="306"/>
        </pc:sldMkLst>
        <pc:spChg chg="mod">
          <ac:chgData name="Erik Domogalla" userId="5acd3f83243d5ceb" providerId="LiveId" clId="{66A855BD-6316-4420-8C1E-DE415AE6F986}" dt="2026-02-12T15:56:22.043" v="143" actId="1076"/>
          <ac:spMkLst>
            <pc:docMk/>
            <pc:sldMk cId="741997725" sldId="306"/>
            <ac:spMk id="18" creationId="{00000000-0000-0000-0000-000000000000}"/>
          </ac:spMkLst>
        </pc:spChg>
        <pc:graphicFrameChg chg="add mod modGraphic">
          <ac:chgData name="Erik Domogalla" userId="5acd3f83243d5ceb" providerId="LiveId" clId="{66A855BD-6316-4420-8C1E-DE415AE6F986}" dt="2026-02-12T15:58:21.789" v="200" actId="1076"/>
          <ac:graphicFrameMkLst>
            <pc:docMk/>
            <pc:sldMk cId="741997725" sldId="306"/>
            <ac:graphicFrameMk id="2" creationId="{F3264458-DA8A-691A-2BC8-8C5DA4CE5135}"/>
          </ac:graphicFrameMkLst>
        </pc:graphicFrameChg>
      </pc:sldChg>
      <pc:sldMasterChg chg="modSp mod">
        <pc:chgData name="Erik Domogalla" userId="5acd3f83243d5ceb" providerId="LiveId" clId="{66A855BD-6316-4420-8C1E-DE415AE6F986}" dt="2026-02-12T15:33:40.265" v="81" actId="20577"/>
        <pc:sldMasterMkLst>
          <pc:docMk/>
          <pc:sldMasterMk cId="2895392174" sldId="2147483648"/>
        </pc:sldMasterMkLst>
        <pc:spChg chg="mod">
          <ac:chgData name="Erik Domogalla" userId="5acd3f83243d5ceb" providerId="LiveId" clId="{66A855BD-6316-4420-8C1E-DE415AE6F986}" dt="2026-02-12T15:33:40.265" v="81" actId="20577"/>
          <ac:spMkLst>
            <pc:docMk/>
            <pc:sldMasterMk cId="2895392174" sldId="2147483648"/>
            <ac:spMk id="5" creationId="{EFA77748-C6C4-4817-BE47-EAF1BEA38A72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9A2D55D-E9BC-4C36-B72D-B1213935B848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146D6B-7675-4AF9-A4D9-D66329B706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32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46D6B-7675-4AF9-A4D9-D66329B706F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129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microsoft.com/office/2007/relationships/hdphoto" Target="../media/hdphoto3.wdp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2.wdp"/><Relationship Id="rId9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ild individuell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44462"/>
            <a:ext cx="12192000" cy="281353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8C8C45B-0590-C7B4-4504-AF5F749CE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9554E58-6C8D-C438-4557-B795D4C2E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98AFF68E-B822-4231-A61A-A6F10FDB7A1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3528"/>
            <a:ext cx="0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Untertitel 2">
            <a:extLst>
              <a:ext uri="{FF2B5EF4-FFF2-40B4-BE49-F238E27FC236}">
                <a16:creationId xmlns:a16="http://schemas.microsoft.com/office/drawing/2014/main" id="{56B27123-8F5C-F2DB-F8F9-639C4EE84C5A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Erik Domogalla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3E08339-CDA6-4998-8203-6D82A84FEF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0803F11-8F2D-47CE-8B6B-75316576092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32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rgbClr val="004A7D"/>
                </a:solidFill>
                <a:effectLst/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02DA826B-3C40-6C4D-C9B8-474479861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2A691E1A-CBB1-B782-9D07-EC4D42689F31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76B5698-7D47-4193-A9DA-28B270A863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47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lauer Hintergrund">
    <p:bg>
      <p:bgPr>
        <a:gradFill flip="none" rotWithShape="1">
          <a:gsLst>
            <a:gs pos="0">
              <a:srgbClr val="0069B4">
                <a:alpha val="25000"/>
              </a:srgbClr>
            </a:gs>
            <a:gs pos="35000">
              <a:srgbClr val="0069B4"/>
            </a:gs>
            <a:gs pos="15000">
              <a:srgbClr val="0069B4">
                <a:alpha val="70000"/>
              </a:srgbClr>
            </a:gs>
            <a:gs pos="100000">
              <a:srgbClr val="0069B4"/>
            </a:gs>
          </a:gsLst>
          <a:lin ang="7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  <a:noFill/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DD325A48-8474-9C09-4587-372790D5A0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19" y="348327"/>
            <a:ext cx="1800000" cy="636021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5DB27594-909F-AD69-46E3-8F655F1AE30F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87A7412-90E1-460A-AEE5-9547E9D764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8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0C982A6E-B854-614E-80C2-782A66419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083" y="1968104"/>
            <a:ext cx="10976598" cy="1611917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000" b="0" i="0" cap="all" spc="0" baseline="0">
                <a:solidFill>
                  <a:srgbClr val="004A7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F72706C7-B025-2E4B-99F6-271DCFCCB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083" y="3800669"/>
            <a:ext cx="10976597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29EC27-6B75-5683-899C-CEE80C23EAA2}"/>
              </a:ext>
            </a:extLst>
          </p:cNvPr>
          <p:cNvSpPr txBox="1"/>
          <p:nvPr userDrawn="1"/>
        </p:nvSpPr>
        <p:spPr>
          <a:xfrm>
            <a:off x="7208613" y="5508839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77986-215E-49C4-1E98-21F190856D43}"/>
              </a:ext>
            </a:extLst>
          </p:cNvPr>
          <p:cNvSpPr txBox="1"/>
          <p:nvPr userDrawn="1"/>
        </p:nvSpPr>
        <p:spPr>
          <a:xfrm>
            <a:off x="1371600" y="6350696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879BACC-6AFA-9366-6C23-4DBF780B5600}"/>
              </a:ext>
            </a:extLst>
          </p:cNvPr>
          <p:cNvSpPr txBox="1"/>
          <p:nvPr userDrawn="1"/>
        </p:nvSpPr>
        <p:spPr>
          <a:xfrm>
            <a:off x="5278295" y="5732342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417703-DC8E-AEE4-B1CF-FB23BEB05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6DA9FD0-97D6-4538-B0CC-017B9A5BB1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6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lock - Standar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6" y="1494000"/>
            <a:ext cx="10982535" cy="4320000"/>
          </a:xfrm>
          <a:prstGeom prst="rect">
            <a:avLst/>
          </a:prstGeom>
          <a:noFill/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A72AF320-A3F9-45DF-B782-940CBEB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282EAE-BCE7-4455-BD16-370E718740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6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6" y="1494000"/>
            <a:ext cx="10982535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A72AF320-A3F9-45DF-B782-940CBEB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282EAE-BCE7-4455-BD16-370E718740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0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5310000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32763" y="1495013"/>
            <a:ext cx="5310000" cy="432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90E5163-BE0A-4B2F-A28A-C8DBA9395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2F2FE4F-7463-48D7-931C-FEE1B526F0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0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10982536" cy="20268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60225" y="3787200"/>
            <a:ext cx="10982538" cy="20268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120A59D-D010-4650-8402-FB8188211A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C78D196-3515-4800-9B0D-F52C40DAC4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4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3D5E6CAA-4987-4C2C-A75A-49228950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5B3DF7E-6280-4A5C-8B60-606A99B757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3481200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A78DC52-EC83-485C-9CFF-42ACCCFB2CF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7959" y="1495013"/>
            <a:ext cx="3484800" cy="4320000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02C79E1-A479-4E60-B17B-2BD8156334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07200" y="1495013"/>
            <a:ext cx="3481200" cy="432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E4DD858-AECF-4B49-BDB9-B64A054CF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A45D7E6-E261-4166-8071-6523B3F841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5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81CC92ED-60A6-4945-A86B-D9156B11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26744B30-7223-476F-A991-E3900CAA6F2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10982536" cy="126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04F6CD12-C214-4A08-817A-C2A8D1329D7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230D0EC-00D6-4871-B41E-8CB66DA87BC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60225" y="3024000"/>
            <a:ext cx="10982536" cy="126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E7682B0-B96A-4E17-9CF9-69ACAFE320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5F3044D-BDF4-4785-96E6-F562B575EF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5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, 1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5356800" cy="27936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85959" y="1495013"/>
            <a:ext cx="5356800" cy="27936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B0FC1A7-7B4B-447B-99AD-5458F7A1CA2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F98DFF1-E929-4661-BEE0-6B8555B6AA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745ED86-B7AE-4627-B994-FAABF8B2BE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09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vertikal 1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3D5E6CAA-4987-4C2C-A75A-49228950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5B3DF7E-6280-4A5C-8B60-606A99B757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3481200" cy="27936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A78DC52-EC83-485C-9CFF-42ACCCFB2CF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7959" y="1495013"/>
            <a:ext cx="3484800" cy="2792618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02C79E1-A479-4E60-B17B-2BD8156334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07200" y="1495013"/>
            <a:ext cx="3481200" cy="2792618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E4DD858-AECF-4B49-BDB9-B64A054CF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A45D7E6-E261-4166-8071-6523B3F841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E9CE6044-1AC6-4A91-87E8-B53533E2371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15112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luss"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7B2627D8-5177-4652-A3D9-25900D69C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7341"/>
          <a:stretch/>
        </p:blipFill>
        <p:spPr>
          <a:xfrm>
            <a:off x="0" y="4140200"/>
            <a:ext cx="12192000" cy="271779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476BA20-381A-4DBA-B724-154B8F7CC1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57" y="5915993"/>
            <a:ext cx="1944000" cy="6848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1C60DCD-6AE9-4FBF-986D-04DF3DB8064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79935" y="5892125"/>
            <a:ext cx="2436158" cy="684000"/>
            <a:chOff x="3088004" y="5708535"/>
            <a:chExt cx="3694558" cy="1037320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B5E37963-F67D-42F0-B26B-CB25F343392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hq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86"/>
            <a:stretch/>
          </p:blipFill>
          <p:spPr>
            <a:xfrm>
              <a:off x="4107179" y="5708535"/>
              <a:ext cx="2675383" cy="1037320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980FF187-7D75-4247-9E5C-F0816F21A2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8004" y="5708535"/>
              <a:ext cx="909322" cy="1037320"/>
            </a:xfrm>
            <a:prstGeom prst="rect">
              <a:avLst/>
            </a:prstGeom>
          </p:spPr>
        </p:pic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96483DC1-F1B6-49AE-8E20-159995C9E64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972" y="5892125"/>
            <a:ext cx="2302613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71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ild individuell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44462"/>
            <a:ext cx="12192000" cy="281353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8C8C45B-0590-C7B4-4504-AF5F749CE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9554E58-6C8D-C438-4557-B795D4C2E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98AFF68E-B822-4231-A61A-A6F10FDB7A1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3528"/>
            <a:ext cx="0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Untertitel 2">
            <a:extLst>
              <a:ext uri="{FF2B5EF4-FFF2-40B4-BE49-F238E27FC236}">
                <a16:creationId xmlns:a16="http://schemas.microsoft.com/office/drawing/2014/main" id="{56B27123-8F5C-F2DB-F8F9-639C4EE84C5A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D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3E08339-CDA6-4998-8203-6D82A84FEF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0803F11-8F2D-47CE-8B6B-75316576092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65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rgbClr val="004A7D"/>
                </a:solidFill>
                <a:effectLst/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02DA826B-3C40-6C4D-C9B8-474479861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2A691E1A-CBB1-B782-9D07-EC4D42689F31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D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76B5698-7D47-4193-A9DA-28B270A863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3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lauer Hintergrund">
    <p:bg>
      <p:bgPr>
        <a:gradFill flip="none" rotWithShape="1">
          <a:gsLst>
            <a:gs pos="0">
              <a:srgbClr val="0069B4">
                <a:alpha val="25000"/>
              </a:srgbClr>
            </a:gs>
            <a:gs pos="35000">
              <a:srgbClr val="0069B4"/>
            </a:gs>
            <a:gs pos="15000">
              <a:srgbClr val="0069B4">
                <a:alpha val="70000"/>
              </a:srgbClr>
            </a:gs>
            <a:gs pos="100000">
              <a:srgbClr val="0069B4"/>
            </a:gs>
          </a:gsLst>
          <a:lin ang="7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  <a:noFill/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Spartan ExtraBold" pitchFamily="2" charset="77"/>
              <a:ea typeface="+mn-ea"/>
              <a:cs typeface="+mn-cs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DD325A48-8474-9C09-4587-372790D5A0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19" y="348327"/>
            <a:ext cx="1800000" cy="636021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5DB27594-909F-AD69-46E3-8F655F1AE30F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D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87A7412-90E1-460A-AEE5-9547E9D764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98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0C982A6E-B854-614E-80C2-782A66419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083" y="1968104"/>
            <a:ext cx="10976598" cy="1611917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000" b="0" i="0" cap="all" spc="0" baseline="0">
                <a:solidFill>
                  <a:srgbClr val="004A7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F72706C7-B025-2E4B-99F6-271DCFCCB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083" y="3800669"/>
            <a:ext cx="10976597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29EC27-6B75-5683-899C-CEE80C23EAA2}"/>
              </a:ext>
            </a:extLst>
          </p:cNvPr>
          <p:cNvSpPr txBox="1"/>
          <p:nvPr userDrawn="1"/>
        </p:nvSpPr>
        <p:spPr>
          <a:xfrm>
            <a:off x="7208613" y="5508839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Spartan ExtraBold" pitchFamily="2" charset="77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77986-215E-49C4-1E98-21F190856D43}"/>
              </a:ext>
            </a:extLst>
          </p:cNvPr>
          <p:cNvSpPr txBox="1"/>
          <p:nvPr userDrawn="1"/>
        </p:nvSpPr>
        <p:spPr>
          <a:xfrm>
            <a:off x="1371600" y="6350696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Spartan ExtraBold" pitchFamily="2" charset="77"/>
              <a:ea typeface="+mn-ea"/>
              <a:cs typeface="+mn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879BACC-6AFA-9366-6C23-4DBF780B5600}"/>
              </a:ext>
            </a:extLst>
          </p:cNvPr>
          <p:cNvSpPr txBox="1"/>
          <p:nvPr userDrawn="1"/>
        </p:nvSpPr>
        <p:spPr>
          <a:xfrm>
            <a:off x="5278295" y="5732342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Spartan ExtraBold" pitchFamily="2" charset="77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417703-DC8E-AEE4-B1CF-FB23BEB05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6DA9FD0-97D6-4538-B0CC-017B9A5BB1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4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6" y="1494000"/>
            <a:ext cx="10982535" cy="43200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A72AF320-A3F9-45DF-B782-940CBEB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282EAE-BCE7-4455-BD16-370E718740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50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5310000" cy="43200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32763" y="1495013"/>
            <a:ext cx="5310000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90E5163-BE0A-4B2F-A28A-C8DBA9395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2F2FE4F-7463-48D7-931C-FEE1B526F0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155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10982536" cy="20268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60225" y="3787200"/>
            <a:ext cx="10982538" cy="20268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120A59D-D010-4650-8402-FB8188211A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C78D196-3515-4800-9B0D-F52C40DAC4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288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3D5E6CAA-4987-4C2C-A75A-49228950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5B3DF7E-6280-4A5C-8B60-606A99B757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3481200" cy="43200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A78DC52-EC83-485C-9CFF-42ACCCFB2CF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7959" y="1495013"/>
            <a:ext cx="3484800" cy="432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02C79E1-A479-4E60-B17B-2BD8156334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07200" y="1495013"/>
            <a:ext cx="3481200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E4DD858-AECF-4B49-BDB9-B64A054CF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A45D7E6-E261-4166-8071-6523B3F841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03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81CC92ED-60A6-4945-A86B-D9156B11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26744B30-7223-476F-A991-E3900CAA6F2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10982536" cy="12600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04F6CD12-C214-4A08-817A-C2A8D1329D7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230D0EC-00D6-4871-B41E-8CB66DA87BC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60225" y="3024000"/>
            <a:ext cx="10982536" cy="126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E7682B0-B96A-4E17-9CF9-69ACAFE320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5F3044D-BDF4-4785-96E6-F562B575EF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381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, 1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5356800" cy="27936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85959" y="1495013"/>
            <a:ext cx="5356800" cy="27936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B0FC1A7-7B4B-447B-99AD-5458F7A1CA2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F98DFF1-E929-4661-BEE0-6B8555B6AA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745ED86-B7AE-4627-B994-FAABF8B2BE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394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vertikal 1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3D5E6CAA-4987-4C2C-A75A-49228950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5B3DF7E-6280-4A5C-8B60-606A99B757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3481200" cy="27936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A78DC52-EC83-485C-9CFF-42ACCCFB2CF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7959" y="1495013"/>
            <a:ext cx="3484800" cy="2792618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02C79E1-A479-4E60-B17B-2BD8156334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07200" y="1495013"/>
            <a:ext cx="3481200" cy="2792618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E4DD858-AECF-4B49-BDB9-B64A054CF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A45D7E6-E261-4166-8071-6523B3F841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E9CE6044-1AC6-4A91-87E8-B53533E2371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6304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E0046696-EFCE-4764-B2BD-E7914851D544}"/>
              </a:ext>
            </a:extLst>
          </p:cNvPr>
          <p:cNvSpPr/>
          <p:nvPr userDrawn="1"/>
        </p:nvSpPr>
        <p:spPr>
          <a:xfrm>
            <a:off x="0" y="5994000"/>
            <a:ext cx="12191999" cy="864000"/>
          </a:xfrm>
          <a:prstGeom prst="rect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Gerade Verbindung 3">
            <a:extLst>
              <a:ext uri="{FF2B5EF4-FFF2-40B4-BE49-F238E27FC236}">
                <a16:creationId xmlns:a16="http://schemas.microsoft.com/office/drawing/2014/main" id="{2495EACA-308F-418C-B9EA-94945FBC3B2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5FD97FBB-86D5-40D9-B3EC-5398F9E11FEC}"/>
              </a:ext>
            </a:extLst>
          </p:cNvPr>
          <p:cNvSpPr txBox="1">
            <a:spLocks/>
          </p:cNvSpPr>
          <p:nvPr userDrawn="1"/>
        </p:nvSpPr>
        <p:spPr>
          <a:xfrm>
            <a:off x="194239" y="6274750"/>
            <a:ext cx="494764" cy="365125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1FBD69-6E57-4E10-B6F4-1F4D658D73AC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77748-C6C4-4817-BE47-EAF1BEA38A72}"/>
              </a:ext>
            </a:extLst>
          </p:cNvPr>
          <p:cNvSpPr txBox="1">
            <a:spLocks/>
          </p:cNvSpPr>
          <p:nvPr userDrawn="1"/>
        </p:nvSpPr>
        <p:spPr>
          <a:xfrm>
            <a:off x="902677" y="6223950"/>
            <a:ext cx="6864875" cy="533387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l" defTabSz="914400" rtl="0" eaLnBrk="1" latinLnBrk="0" hangingPunct="1">
              <a:lnSpc>
                <a:spcPct val="150000"/>
              </a:lnSpc>
              <a:defRPr sz="1000" b="0" i="0" kern="1200" spc="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+mn-lt"/>
              </a:rPr>
              <a:t>Erik Domogalla</a:t>
            </a:r>
          </a:p>
          <a:p>
            <a:r>
              <a:rPr lang="de-DE" dirty="0">
                <a:latin typeface="+mn-lt"/>
              </a:rPr>
              <a:t>Vorstellung Belegaufgabe Modellierung und Optimierung chemischer Reaktoren</a:t>
            </a:r>
          </a:p>
        </p:txBody>
      </p:sp>
    </p:spTree>
    <p:extLst>
      <p:ext uri="{BB962C8B-B14F-4D97-AF65-F5344CB8AC3E}">
        <p14:creationId xmlns:p14="http://schemas.microsoft.com/office/powerpoint/2010/main" val="289539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69" r:id="rId2"/>
    <p:sldLayoutId id="2147483691" r:id="rId3"/>
    <p:sldLayoutId id="2147483649" r:id="rId4"/>
    <p:sldLayoutId id="2147483732" r:id="rId5"/>
    <p:sldLayoutId id="2147483682" r:id="rId6"/>
    <p:sldLayoutId id="2147483670" r:id="rId7"/>
    <p:sldLayoutId id="2147483692" r:id="rId8"/>
    <p:sldLayoutId id="2147483665" r:id="rId9"/>
    <p:sldLayoutId id="2147483672" r:id="rId10"/>
    <p:sldLayoutId id="2147483693" r:id="rId11"/>
    <p:sldLayoutId id="2147483695" r:id="rId12"/>
    <p:sldLayoutId id="2147483734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4A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E0046696-EFCE-4764-B2BD-E7914851D544}"/>
              </a:ext>
            </a:extLst>
          </p:cNvPr>
          <p:cNvSpPr/>
          <p:nvPr userDrawn="1"/>
        </p:nvSpPr>
        <p:spPr>
          <a:xfrm>
            <a:off x="0" y="5994000"/>
            <a:ext cx="12191999" cy="864000"/>
          </a:xfrm>
          <a:prstGeom prst="rect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" name="Gerade Verbindung 3">
            <a:extLst>
              <a:ext uri="{FF2B5EF4-FFF2-40B4-BE49-F238E27FC236}">
                <a16:creationId xmlns:a16="http://schemas.microsoft.com/office/drawing/2014/main" id="{2495EACA-308F-418C-B9EA-94945FBC3B2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5FD97FBB-86D5-40D9-B3EC-5398F9E11FEC}"/>
              </a:ext>
            </a:extLst>
          </p:cNvPr>
          <p:cNvSpPr txBox="1">
            <a:spLocks/>
          </p:cNvSpPr>
          <p:nvPr userDrawn="1"/>
        </p:nvSpPr>
        <p:spPr>
          <a:xfrm>
            <a:off x="194239" y="6274750"/>
            <a:ext cx="494764" cy="365125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FBD69-6E57-4E10-B6F4-1F4D658D73AC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4A7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77748-C6C4-4817-BE47-EAF1BEA38A72}"/>
              </a:ext>
            </a:extLst>
          </p:cNvPr>
          <p:cNvSpPr txBox="1">
            <a:spLocks/>
          </p:cNvSpPr>
          <p:nvPr userDrawn="1"/>
        </p:nvSpPr>
        <p:spPr>
          <a:xfrm>
            <a:off x="902677" y="6223950"/>
            <a:ext cx="6864875" cy="533387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l" defTabSz="914400" rtl="0" eaLnBrk="1" latinLnBrk="0" hangingPunct="1">
              <a:lnSpc>
                <a:spcPct val="150000"/>
              </a:lnSpc>
              <a:defRPr sz="1000" b="0" i="0" kern="1200" spc="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4A7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Name des Referenten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4A7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Titel des Vortrages</a:t>
            </a:r>
          </a:p>
        </p:txBody>
      </p:sp>
    </p:spTree>
    <p:extLst>
      <p:ext uri="{BB962C8B-B14F-4D97-AF65-F5344CB8AC3E}">
        <p14:creationId xmlns:p14="http://schemas.microsoft.com/office/powerpoint/2010/main" val="2812556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4A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2A242-ECA4-49DC-8D15-7F5EC0C89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136" y="1691760"/>
            <a:ext cx="10397085" cy="1314518"/>
          </a:xfrm>
        </p:spPr>
        <p:txBody>
          <a:bodyPr/>
          <a:lstStyle/>
          <a:p>
            <a:r>
              <a:rPr lang="de-DE" sz="3200" dirty="0"/>
              <a:t>Modellierung und Optimierung chemischer Reaktoren</a:t>
            </a:r>
            <a:endParaRPr lang="de-DE" sz="3200" b="1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C064CE-98E4-4AFB-BA6C-CC9611C8D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137" y="3394620"/>
            <a:ext cx="10397084" cy="9999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de-DE" dirty="0"/>
              <a:t>Präsentation der Belegaufgabe</a:t>
            </a:r>
          </a:p>
        </p:txBody>
      </p:sp>
    </p:spTree>
    <p:extLst>
      <p:ext uri="{BB962C8B-B14F-4D97-AF65-F5344CB8AC3E}">
        <p14:creationId xmlns:p14="http://schemas.microsoft.com/office/powerpoint/2010/main" val="3643761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2"/>
          </p:nvPr>
        </p:nvSpPr>
        <p:spPr>
          <a:xfrm>
            <a:off x="760227" y="1260638"/>
            <a:ext cx="10982535" cy="4320000"/>
          </a:xfrm>
        </p:spPr>
        <p:txBody>
          <a:bodyPr/>
          <a:lstStyle/>
          <a:p>
            <a:r>
              <a:rPr lang="de-DE" dirty="0"/>
              <a:t>Zur Simulation der katalytischen Partialoxidation von Methan im </a:t>
            </a:r>
            <a:r>
              <a:rPr lang="de-DE" dirty="0" err="1"/>
              <a:t>Festbett</a:t>
            </a:r>
            <a:r>
              <a:rPr lang="de-DE" dirty="0"/>
              <a:t> soll ein Reaktornetzwerkmodell</a:t>
            </a:r>
          </a:p>
          <a:p>
            <a:r>
              <a:rPr lang="de-DE" dirty="0"/>
              <a:t>anstatt eines idealen Strömungsrohrs verwendet werden. Das Reaktornetzwerkmodell besteht aus einer</a:t>
            </a:r>
          </a:p>
          <a:p>
            <a:r>
              <a:rPr lang="de-DE" dirty="0"/>
              <a:t>Aneinanderreihung von idealen Rührkesseln, wodurch kein Differentialgleichungssystem gelöst werden</a:t>
            </a:r>
          </a:p>
          <a:p>
            <a:r>
              <a:rPr lang="de-DE" dirty="0"/>
              <a:t>muss.</a:t>
            </a:r>
          </a:p>
          <a:p>
            <a:endParaRPr lang="de-DE" dirty="0"/>
          </a:p>
          <a:p>
            <a:r>
              <a:rPr lang="de-DE" dirty="0"/>
              <a:t>Das Reaktormodell ist als „Belegaufgabe-Reaktormodell.py“ gegeben.</a:t>
            </a:r>
          </a:p>
          <a:p>
            <a:endParaRPr lang="de-DE" dirty="0"/>
          </a:p>
          <a:p>
            <a:r>
              <a:rPr lang="de-DE" b="1" dirty="0"/>
              <a:t>Aufgaben:</a:t>
            </a:r>
          </a:p>
          <a:p>
            <a:r>
              <a:rPr lang="de-DE" dirty="0"/>
              <a:t>1. Koppeln Sie das Reaktormodell mit einer </a:t>
            </a:r>
            <a:r>
              <a:rPr lang="de-DE" dirty="0" err="1"/>
              <a:t>einkriteriellen</a:t>
            </a:r>
            <a:r>
              <a:rPr lang="de-DE" dirty="0"/>
              <a:t> Optimierung.</a:t>
            </a:r>
          </a:p>
          <a:p>
            <a:r>
              <a:rPr lang="de-DE" dirty="0"/>
              <a:t>2. Definieren Sie ein geeignetes Optimierungsproblem zur Optimierung des Festbetts.</a:t>
            </a:r>
          </a:p>
          <a:p>
            <a:r>
              <a:rPr lang="de-DE" dirty="0"/>
              <a:t>a. Definieren Sie die Variablen und deren Grenzen.</a:t>
            </a:r>
          </a:p>
          <a:p>
            <a:r>
              <a:rPr lang="de-DE" dirty="0"/>
              <a:t>b. Definieren Sie geeignete Zielgrößen.</a:t>
            </a:r>
          </a:p>
          <a:p>
            <a:r>
              <a:rPr lang="de-DE" dirty="0"/>
              <a:t>3. Visualisieren Sie den Verlauf der Optimierungsergebnisse in geeigneter Art und Weise.</a:t>
            </a:r>
          </a:p>
          <a:p>
            <a:r>
              <a:rPr lang="de-DE" dirty="0"/>
              <a:t>4. Führen Sie eine </a:t>
            </a:r>
            <a:r>
              <a:rPr lang="de-DE" dirty="0" err="1"/>
              <a:t>multikriterielle</a:t>
            </a:r>
            <a:r>
              <a:rPr lang="de-DE" dirty="0"/>
              <a:t> Optimierung durch und vergleichen Sie die Ergebnisse gegen die</a:t>
            </a:r>
          </a:p>
          <a:p>
            <a:r>
              <a:rPr lang="de-DE" dirty="0" err="1"/>
              <a:t>einkriterielle</a:t>
            </a:r>
            <a:r>
              <a:rPr lang="de-DE" dirty="0"/>
              <a:t> Optimierung.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Aufgabenstellung</a:t>
            </a:r>
          </a:p>
        </p:txBody>
      </p:sp>
    </p:spTree>
    <p:extLst>
      <p:ext uri="{BB962C8B-B14F-4D97-AF65-F5344CB8AC3E}">
        <p14:creationId xmlns:p14="http://schemas.microsoft.com/office/powerpoint/2010/main" val="420800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Grundkonzept Reduziertes Modell</a:t>
            </a:r>
          </a:p>
        </p:txBody>
      </p:sp>
      <p:sp>
        <p:nvSpPr>
          <p:cNvPr id="5" name="Rechteck 4"/>
          <p:cNvSpPr/>
          <p:nvPr/>
        </p:nvSpPr>
        <p:spPr>
          <a:xfrm>
            <a:off x="9124421" y="1790699"/>
            <a:ext cx="2448454" cy="3076575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9124421" y="1790700"/>
            <a:ext cx="2448454" cy="702208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Klasse PFR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9372069" y="2636855"/>
            <a:ext cx="1841529" cy="530445"/>
          </a:xfrm>
          <a:prstGeom prst="roundRect">
            <a:avLst>
              <a:gd name="adj" fmla="val 30953"/>
            </a:avLst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Simulate</a:t>
            </a:r>
            <a:r>
              <a:rPr lang="de-DE" dirty="0"/>
              <a:t>()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9372069" y="3511549"/>
            <a:ext cx="1841529" cy="530445"/>
          </a:xfrm>
          <a:prstGeom prst="roundRect">
            <a:avLst>
              <a:gd name="adj" fmla="val 30953"/>
            </a:avLst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Calc_CH4()</a:t>
            </a:r>
          </a:p>
        </p:txBody>
      </p:sp>
      <p:cxnSp>
        <p:nvCxnSpPr>
          <p:cNvPr id="10" name="Gerade Verbindung mit Pfeil 9"/>
          <p:cNvCxnSpPr>
            <a:stCxn id="8" idx="0"/>
            <a:endCxn id="7" idx="2"/>
          </p:cNvCxnSpPr>
          <p:nvPr/>
        </p:nvCxnSpPr>
        <p:spPr>
          <a:xfrm flipV="1">
            <a:off x="10292834" y="3167300"/>
            <a:ext cx="0" cy="344249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/>
          <p:cNvSpPr/>
          <p:nvPr/>
        </p:nvSpPr>
        <p:spPr>
          <a:xfrm>
            <a:off x="6102350" y="1790699"/>
            <a:ext cx="2448454" cy="3076575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6102350" y="1790700"/>
            <a:ext cx="2448454" cy="70220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Einkriterielle</a:t>
            </a:r>
            <a:r>
              <a:rPr lang="de-DE" dirty="0"/>
              <a:t> Optimierung</a:t>
            </a:r>
          </a:p>
        </p:txBody>
      </p:sp>
      <p:sp>
        <p:nvSpPr>
          <p:cNvPr id="13" name="Abgerundetes Rechteck 12"/>
          <p:cNvSpPr/>
          <p:nvPr/>
        </p:nvSpPr>
        <p:spPr>
          <a:xfrm>
            <a:off x="6345765" y="2636855"/>
            <a:ext cx="1841529" cy="530445"/>
          </a:xfrm>
          <a:prstGeom prst="roundRect">
            <a:avLst>
              <a:gd name="adj" fmla="val 30953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optimize</a:t>
            </a:r>
            <a:r>
              <a:rPr lang="de-DE" dirty="0"/>
              <a:t>()</a:t>
            </a:r>
          </a:p>
        </p:txBody>
      </p:sp>
      <p:cxnSp>
        <p:nvCxnSpPr>
          <p:cNvPr id="15" name="Gewinkelter Verbinder 14"/>
          <p:cNvCxnSpPr>
            <a:stCxn id="13" idx="3"/>
            <a:endCxn id="8" idx="1"/>
          </p:cNvCxnSpPr>
          <p:nvPr/>
        </p:nvCxnSpPr>
        <p:spPr>
          <a:xfrm>
            <a:off x="8187294" y="2902078"/>
            <a:ext cx="1184775" cy="87469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Inhaltsplatzhalter 2"/>
          <p:cNvSpPr>
            <a:spLocks noGrp="1"/>
          </p:cNvSpPr>
          <p:nvPr>
            <p:ph idx="12"/>
          </p:nvPr>
        </p:nvSpPr>
        <p:spPr>
          <a:xfrm>
            <a:off x="1059938" y="1790700"/>
            <a:ext cx="4212149" cy="189909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Auslagern der Simulation in Klasse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Klasse hat Unterfunktionen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Optimize</a:t>
            </a:r>
            <a:r>
              <a:rPr lang="de-DE" dirty="0"/>
              <a:t> (</a:t>
            </a:r>
            <a:r>
              <a:rPr lang="de-DE" dirty="0" err="1"/>
              <a:t>scipy</a:t>
            </a:r>
            <a:r>
              <a:rPr lang="de-DE" dirty="0"/>
              <a:t>) optimiert Unterfunktion der Klasse </a:t>
            </a:r>
          </a:p>
          <a:p>
            <a:pPr marL="971550" lvl="1" indent="-285750"/>
            <a:r>
              <a:rPr lang="de-DE" dirty="0"/>
              <a:t>Einfaches Optimierungsskript</a:t>
            </a:r>
          </a:p>
          <a:p>
            <a:pPr marL="971550" lvl="1" indent="-285750"/>
            <a:r>
              <a:rPr lang="de-DE" dirty="0"/>
              <a:t>Gute Skalierung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elle 1">
                <a:extLst>
                  <a:ext uri="{FF2B5EF4-FFF2-40B4-BE49-F238E27FC236}">
                    <a16:creationId xmlns:a16="http://schemas.microsoft.com/office/drawing/2014/main" id="{F3264458-DA8A-691A-2BC8-8C5DA4CE5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2449983"/>
                  </p:ext>
                </p:extLst>
              </p:nvPr>
            </p:nvGraphicFramePr>
            <p:xfrm>
              <a:off x="1059938" y="3909431"/>
              <a:ext cx="466600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5336">
                      <a:extLst>
                        <a:ext uri="{9D8B030D-6E8A-4147-A177-3AD203B41FA5}">
                          <a16:colId xmlns:a16="http://schemas.microsoft.com/office/drawing/2014/main" val="2845151786"/>
                        </a:ext>
                      </a:extLst>
                    </a:gridCol>
                    <a:gridCol w="1555336">
                      <a:extLst>
                        <a:ext uri="{9D8B030D-6E8A-4147-A177-3AD203B41FA5}">
                          <a16:colId xmlns:a16="http://schemas.microsoft.com/office/drawing/2014/main" val="3657285514"/>
                        </a:ext>
                      </a:extLst>
                    </a:gridCol>
                    <a:gridCol w="1555336">
                      <a:extLst>
                        <a:ext uri="{9D8B030D-6E8A-4147-A177-3AD203B41FA5}">
                          <a16:colId xmlns:a16="http://schemas.microsoft.com/office/drawing/2014/main" val="26646513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99285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Durchmesser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1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3 cm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228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Porosität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0,2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0,5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91982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Durchmesser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1000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2000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-1</m:t>
                                  </m:r>
                                </m:sup>
                              </m:sSup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24089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elle 1">
                <a:extLst>
                  <a:ext uri="{FF2B5EF4-FFF2-40B4-BE49-F238E27FC236}">
                    <a16:creationId xmlns:a16="http://schemas.microsoft.com/office/drawing/2014/main" id="{F3264458-DA8A-691A-2BC8-8C5DA4CE5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2449983"/>
                  </p:ext>
                </p:extLst>
              </p:nvPr>
            </p:nvGraphicFramePr>
            <p:xfrm>
              <a:off x="1059938" y="3909431"/>
              <a:ext cx="466600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5336">
                      <a:extLst>
                        <a:ext uri="{9D8B030D-6E8A-4147-A177-3AD203B41FA5}">
                          <a16:colId xmlns:a16="http://schemas.microsoft.com/office/drawing/2014/main" val="2845151786"/>
                        </a:ext>
                      </a:extLst>
                    </a:gridCol>
                    <a:gridCol w="1555336">
                      <a:extLst>
                        <a:ext uri="{9D8B030D-6E8A-4147-A177-3AD203B41FA5}">
                          <a16:colId xmlns:a16="http://schemas.microsoft.com/office/drawing/2014/main" val="3657285514"/>
                        </a:ext>
                      </a:extLst>
                    </a:gridCol>
                    <a:gridCol w="1555336">
                      <a:extLst>
                        <a:ext uri="{9D8B030D-6E8A-4147-A177-3AD203B41FA5}">
                          <a16:colId xmlns:a16="http://schemas.microsoft.com/office/drawing/2014/main" val="26646513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99285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Durchmesser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1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3 cm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228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Porosität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0,2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0,5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91982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Durchmesser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784" t="-308197" r="-10196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8197" r="-1563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24089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1997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</a:t>
            </a:r>
            <a:r>
              <a:rPr lang="de-DE" dirty="0" err="1"/>
              <a:t>einkriterielle</a:t>
            </a:r>
            <a:r>
              <a:rPr lang="de-DE" dirty="0"/>
              <a:t> Optimierung</a:t>
            </a:r>
          </a:p>
        </p:txBody>
      </p:sp>
      <p:sp>
        <p:nvSpPr>
          <p:cNvPr id="18" name="Inhaltsplatzhalter 2"/>
          <p:cNvSpPr>
            <a:spLocks noGrp="1"/>
          </p:cNvSpPr>
          <p:nvPr>
            <p:ph idx="12"/>
          </p:nvPr>
        </p:nvSpPr>
        <p:spPr>
          <a:xfrm>
            <a:off x="1059938" y="1359661"/>
            <a:ext cx="4780449" cy="383908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Ziel: Optimierung des Methanumsatzes bei gegebenen Grenzen (A/V, Durchmesser, Porosität)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Einkriterielle</a:t>
            </a:r>
            <a:r>
              <a:rPr lang="de-DE" dirty="0"/>
              <a:t> Optimierung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Stochastischer Algorithmus (</a:t>
            </a:r>
            <a:r>
              <a:rPr lang="de-DE" dirty="0" err="1"/>
              <a:t>optimize.differential_evolution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CH4 = 0.010822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A/V = 1998.6 1/cm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 = 3.000 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Porosity = 0.5000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n_CSTR = 201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318" y="1203028"/>
            <a:ext cx="5031248" cy="452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5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Multikriterielle</a:t>
            </a:r>
            <a:r>
              <a:rPr lang="de-DE" dirty="0"/>
              <a:t> Optimierung </a:t>
            </a:r>
          </a:p>
        </p:txBody>
      </p:sp>
      <p:sp>
        <p:nvSpPr>
          <p:cNvPr id="18" name="Inhaltsplatzhalter 2"/>
          <p:cNvSpPr>
            <a:spLocks noGrp="1"/>
          </p:cNvSpPr>
          <p:nvPr>
            <p:ph idx="12"/>
          </p:nvPr>
        </p:nvSpPr>
        <p:spPr>
          <a:xfrm>
            <a:off x="1059938" y="1359661"/>
            <a:ext cx="4780449" cy="383908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Optimierung Methanumsatz und gleichzeitig Katalysatorvolumen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Viel Katalysatorvolumen: hoher Umsatz</a:t>
            </a:r>
          </a:p>
          <a:p>
            <a:pPr marL="971550" lvl="1" indent="-285750"/>
            <a:r>
              <a:rPr lang="de-DE" dirty="0"/>
              <a:t>Konkurrierende Größen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Optimierung mit </a:t>
            </a:r>
            <a:r>
              <a:rPr lang="de-DE" dirty="0" err="1"/>
              <a:t>pymoo</a:t>
            </a:r>
            <a:r>
              <a:rPr lang="de-DE" dirty="0"/>
              <a:t> Paket (Multi-</a:t>
            </a:r>
            <a:r>
              <a:rPr lang="de-DE" dirty="0" err="1"/>
              <a:t>objective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 in Python)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50 Simulationen pro Evolutionsschritt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50 Evolutionsschritte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= 2500 Simulationen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Pareto Front klar erkennbar 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905" y="1154300"/>
            <a:ext cx="5515575" cy="424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83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Rechenzeiten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37646"/>
              </p:ext>
            </p:extLst>
          </p:nvPr>
        </p:nvGraphicFramePr>
        <p:xfrm>
          <a:off x="760224" y="1217506"/>
          <a:ext cx="109825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1268">
                  <a:extLst>
                    <a:ext uri="{9D8B030D-6E8A-4147-A177-3AD203B41FA5}">
                      <a16:colId xmlns:a16="http://schemas.microsoft.com/office/drawing/2014/main" val="195106501"/>
                    </a:ext>
                  </a:extLst>
                </a:gridCol>
                <a:gridCol w="5491268">
                  <a:extLst>
                    <a:ext uri="{9D8B030D-6E8A-4147-A177-3AD203B41FA5}">
                      <a16:colId xmlns:a16="http://schemas.microsoft.com/office/drawing/2014/main" val="3885591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Rechenzeit (Schätzung)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493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Stoffprofil</a:t>
                      </a:r>
                      <a:r>
                        <a:rPr lang="de-DE" baseline="0" dirty="0"/>
                        <a:t> eines Reaktors berechnen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0,1</a:t>
                      </a:r>
                      <a:r>
                        <a:rPr lang="de-DE" baseline="0" dirty="0"/>
                        <a:t> – 0,2 s (gemessen, n = 1000)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367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Einkriterielle</a:t>
                      </a:r>
                      <a:r>
                        <a:rPr lang="de-DE" dirty="0"/>
                        <a:t> Optimierung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2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Multikriterielle</a:t>
                      </a:r>
                      <a:r>
                        <a:rPr lang="de-DE" baseline="0" dirty="0"/>
                        <a:t> Optimierung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600</a:t>
                      </a:r>
                      <a:r>
                        <a:rPr lang="de-DE" baseline="0" dirty="0"/>
                        <a:t> 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49395"/>
                  </a:ext>
                </a:extLst>
              </a:tr>
            </a:tbl>
          </a:graphicData>
        </a:graphic>
      </p:graphicFrame>
      <p:sp>
        <p:nvSpPr>
          <p:cNvPr id="5" name="Inhaltsplatzhalter 4"/>
          <p:cNvSpPr>
            <a:spLocks noGrp="1"/>
          </p:cNvSpPr>
          <p:nvPr>
            <p:ph idx="12"/>
          </p:nvPr>
        </p:nvSpPr>
        <p:spPr>
          <a:xfrm>
            <a:off x="760226" y="3175000"/>
            <a:ext cx="10982535" cy="2639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Rechenzeiten noch klar optimierbar durch: </a:t>
            </a:r>
          </a:p>
          <a:p>
            <a:pPr marL="971550" lvl="1" indent="-285750"/>
            <a:r>
              <a:rPr lang="de-DE" dirty="0"/>
              <a:t>Parallelisierung</a:t>
            </a:r>
          </a:p>
          <a:p>
            <a:pPr marL="971550" lvl="1" indent="-285750"/>
            <a:r>
              <a:rPr lang="de-DE" dirty="0"/>
              <a:t>Optimierung im Code</a:t>
            </a:r>
          </a:p>
          <a:p>
            <a:pPr marL="971550" lvl="1" indent="-285750"/>
            <a:r>
              <a:rPr lang="de-DE" dirty="0"/>
              <a:t>Schreiben weniger Daten (vor allem Stoffprofile wenn nicht benötigt)</a:t>
            </a:r>
          </a:p>
          <a:p>
            <a:pPr marL="971550" lvl="1" indent="-285750"/>
            <a:r>
              <a:rPr lang="de-DE" dirty="0"/>
              <a:t>Weniger Simulationen bei </a:t>
            </a:r>
            <a:r>
              <a:rPr lang="de-DE" dirty="0" err="1"/>
              <a:t>Multikriterieller</a:t>
            </a:r>
            <a:r>
              <a:rPr lang="de-DE" dirty="0"/>
              <a:t> Optimierung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Für diese Anwendung ausreichend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Code gut skalierbar, daher evtl. besserer Code nötig </a:t>
            </a:r>
          </a:p>
          <a:p>
            <a:pPr marL="971550" lvl="1" indent="-28575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714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735043"/>
      </p:ext>
    </p:extLst>
  </p:cSld>
  <p:clrMapOvr>
    <a:masterClrMapping/>
  </p:clrMapOvr>
</p:sld>
</file>

<file path=ppt/theme/theme1.xml><?xml version="1.0" encoding="utf-8"?>
<a:theme xmlns:a="http://schemas.openxmlformats.org/drawingml/2006/main" name="TUBAF MTK - harmonisch">
  <a:themeElements>
    <a:clrScheme name="TUBAF &amp; Akzentfarben">
      <a:dk1>
        <a:sysClr val="windowText" lastClr="000000"/>
      </a:dk1>
      <a:lt1>
        <a:sysClr val="window" lastClr="FFFFFF"/>
      </a:lt1>
      <a:dk2>
        <a:srgbClr val="00477E"/>
      </a:dk2>
      <a:lt2>
        <a:srgbClr val="E7E6E6"/>
      </a:lt2>
      <a:accent1>
        <a:srgbClr val="0064A8"/>
      </a:accent1>
      <a:accent2>
        <a:srgbClr val="EF8903"/>
      </a:accent2>
      <a:accent3>
        <a:srgbClr val="CC0E21"/>
      </a:accent3>
      <a:accent4>
        <a:srgbClr val="FEDD9D"/>
      </a:accent4>
      <a:accent5>
        <a:srgbClr val="B4D8AE"/>
      </a:accent5>
      <a:accent6>
        <a:srgbClr val="A1D9EF"/>
      </a:accent6>
      <a:hlink>
        <a:srgbClr val="10BAE6"/>
      </a:hlink>
      <a:folHlink>
        <a:srgbClr val="1995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36000" rIns="36000" bIns="36000" rtlCol="0" anchor="t">
        <a:noAutofit/>
      </a:bodyPr>
      <a:lstStyle>
        <a:defPPr algn="l">
          <a:defRPr i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CD6EA72-AF7F-462F-9AC0-76C9F8BA9064}" vid="{57E2CBE2-615A-4F91-98CE-C6E42D9E22C3}"/>
    </a:ext>
  </a:extLst>
</a:theme>
</file>

<file path=ppt/theme/theme2.xml><?xml version="1.0" encoding="utf-8"?>
<a:theme xmlns:a="http://schemas.openxmlformats.org/drawingml/2006/main" name="TUBAF Blau - monochromatisch">
  <a:themeElements>
    <a:clrScheme name="TUBAF Blau">
      <a:dk1>
        <a:sysClr val="windowText" lastClr="000000"/>
      </a:dk1>
      <a:lt1>
        <a:sysClr val="window" lastClr="FFFFFF"/>
      </a:lt1>
      <a:dk2>
        <a:srgbClr val="00477E"/>
      </a:dk2>
      <a:lt2>
        <a:srgbClr val="E7E6E6"/>
      </a:lt2>
      <a:accent1>
        <a:srgbClr val="0064A8"/>
      </a:accent1>
      <a:accent2>
        <a:srgbClr val="DBEAF4"/>
      </a:accent2>
      <a:accent3>
        <a:srgbClr val="B8D5EA"/>
      </a:accent3>
      <a:accent4>
        <a:srgbClr val="94C0E0"/>
      </a:accent4>
      <a:accent5>
        <a:srgbClr val="70ABD5"/>
      </a:accent5>
      <a:accent6>
        <a:srgbClr val="4C96CA"/>
      </a:accent6>
      <a:hlink>
        <a:srgbClr val="2981C0"/>
      </a:hlink>
      <a:folHlink>
        <a:srgbClr val="056C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108000" tIns="64800" rIns="108000" bIns="108000" rtlCol="0" anchor="t">
        <a:noAutofit/>
      </a:bodyPr>
      <a:lstStyle>
        <a:defPPr algn="l">
          <a:defRPr i="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CD6EA72-AF7F-462F-9AC0-76C9F8BA9064}" vid="{57E2CBE2-615A-4F91-98CE-C6E42D9E22C3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342</Words>
  <Application>Microsoft Office PowerPoint</Application>
  <PresentationFormat>Breitbild</PresentationFormat>
  <Paragraphs>78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 Math</vt:lpstr>
      <vt:lpstr>Spartan ExtraBold</vt:lpstr>
      <vt:lpstr>Wingdings</vt:lpstr>
      <vt:lpstr>TUBAF MTK - harmonisch</vt:lpstr>
      <vt:lpstr>TUBAF Blau - monochromatisch</vt:lpstr>
      <vt:lpstr>Modellierung und Optimierung chemischer Reaktoren</vt:lpstr>
      <vt:lpstr>Aufgabenstellung</vt:lpstr>
      <vt:lpstr>Grundkonzept Reduziertes Modell</vt:lpstr>
      <vt:lpstr>Ergebnisse einkriterielle Optimierung</vt:lpstr>
      <vt:lpstr>Multikriterielle Optimierung </vt:lpstr>
      <vt:lpstr>Rechenzeiten</vt:lpstr>
      <vt:lpstr>PowerPoint-Präsentation</vt:lpstr>
    </vt:vector>
  </TitlesOfParts>
  <Manager/>
  <Company>TU Bergakademie Freiberg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Sophie Rodmacher</dc:creator>
  <cp:keywords/>
  <dc:description/>
  <cp:lastModifiedBy>Erik Domogalla</cp:lastModifiedBy>
  <cp:revision>430</cp:revision>
  <cp:lastPrinted>2023-04-13T13:19:24Z</cp:lastPrinted>
  <dcterms:created xsi:type="dcterms:W3CDTF">2021-01-06T10:07:23Z</dcterms:created>
  <dcterms:modified xsi:type="dcterms:W3CDTF">2026-02-12T15:58:22Z</dcterms:modified>
  <cp:category/>
</cp:coreProperties>
</file>