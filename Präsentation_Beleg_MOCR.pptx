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4" r:id="rId2"/>
  </p:sldMasterIdLst>
  <p:notesMasterIdLst>
    <p:notesMasterId r:id="rId13"/>
  </p:notesMasterIdLst>
  <p:sldIdLst>
    <p:sldId id="256" r:id="rId3"/>
    <p:sldId id="307" r:id="rId4"/>
    <p:sldId id="309" r:id="rId5"/>
    <p:sldId id="308" r:id="rId6"/>
    <p:sldId id="306" r:id="rId7"/>
    <p:sldId id="287" r:id="rId8"/>
    <p:sldId id="301" r:id="rId9"/>
    <p:sldId id="302" r:id="rId10"/>
    <p:sldId id="303" r:id="rId11"/>
    <p:sldId id="304" r:id="rId12"/>
  </p:sldIdLst>
  <p:sldSz cx="12192000" cy="6858000"/>
  <p:notesSz cx="7010400" cy="9296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11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ris André Jost" initials="LAJ" lastIdx="2" clrIdx="0">
    <p:extLst>
      <p:ext uri="{19B8F6BF-5375-455C-9EA6-DF929625EA0E}">
        <p15:presenceInfo xmlns:p15="http://schemas.microsoft.com/office/powerpoint/2012/main" userId="S-1-5-21-3346626551-2291581799-713811937-62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A8"/>
    <a:srgbClr val="A1D9EF"/>
    <a:srgbClr val="B4D8AE"/>
    <a:srgbClr val="FFA800"/>
    <a:srgbClr val="AFABAB"/>
    <a:srgbClr val="AAB8D1"/>
    <a:srgbClr val="004A7D"/>
    <a:srgbClr val="E7EDF3"/>
    <a:srgbClr val="429D88"/>
    <a:srgbClr val="94C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45DC4-4C77-4431-BB9B-C1CF6DA912ED}" v="36" dt="2025-11-16T21:45:15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80751" autoAdjust="0"/>
  </p:normalViewPr>
  <p:slideViewPr>
    <p:cSldViewPr snapToGrid="0" showGuides="1">
      <p:cViewPr>
        <p:scale>
          <a:sx n="100" d="100"/>
          <a:sy n="100" d="100"/>
        </p:scale>
        <p:origin x="2874" y="-156"/>
      </p:cViewPr>
      <p:guideLst>
        <p:guide orient="horz" pos="3407"/>
        <p:guide pos="3840"/>
        <p:guide orient="horz" pos="686"/>
        <p:guide pos="438"/>
        <p:guide orient="horz" pos="11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Domogalla" userId="5acd3f83243d5ceb" providerId="LiveId" clId="{479D7EBB-65EC-407B-8531-865139CA410A}"/>
    <pc:docChg chg="undo custSel modSld sldOrd">
      <pc:chgData name="Erik Domogalla" userId="5acd3f83243d5ceb" providerId="LiveId" clId="{479D7EBB-65EC-407B-8531-865139CA410A}" dt="2025-11-16T21:45:15.629" v="205" actId="1076"/>
      <pc:docMkLst>
        <pc:docMk/>
      </pc:docMkLst>
      <pc:sldChg chg="modSp mod">
        <pc:chgData name="Erik Domogalla" userId="5acd3f83243d5ceb" providerId="LiveId" clId="{479D7EBB-65EC-407B-8531-865139CA410A}" dt="2025-11-16T21:38:02.190" v="99" actId="20577"/>
        <pc:sldMkLst>
          <pc:docMk/>
          <pc:sldMk cId="781985869" sldId="275"/>
        </pc:sldMkLst>
        <pc:spChg chg="mod">
          <ac:chgData name="Erik Domogalla" userId="5acd3f83243d5ceb" providerId="LiveId" clId="{479D7EBB-65EC-407B-8531-865139CA410A}" dt="2025-11-16T21:38:02.190" v="99" actId="20577"/>
          <ac:spMkLst>
            <pc:docMk/>
            <pc:sldMk cId="781985869" sldId="275"/>
            <ac:spMk id="2" creationId="{41947B4D-8B03-4338-A9FC-739D884FC8C8}"/>
          </ac:spMkLst>
        </pc:spChg>
      </pc:sldChg>
      <pc:sldChg chg="modSp mod">
        <pc:chgData name="Erik Domogalla" userId="5acd3f83243d5ceb" providerId="LiveId" clId="{479D7EBB-65EC-407B-8531-865139CA410A}" dt="2025-11-16T21:33:19.875" v="93" actId="207"/>
        <pc:sldMkLst>
          <pc:docMk/>
          <pc:sldMk cId="2047669503" sldId="294"/>
        </pc:sldMkLst>
        <pc:graphicFrameChg chg="modGraphic">
          <ac:chgData name="Erik Domogalla" userId="5acd3f83243d5ceb" providerId="LiveId" clId="{479D7EBB-65EC-407B-8531-865139CA410A}" dt="2025-11-16T21:33:19.875" v="93" actId="207"/>
          <ac:graphicFrameMkLst>
            <pc:docMk/>
            <pc:sldMk cId="2047669503" sldId="294"/>
            <ac:graphicFrameMk id="6" creationId="{9C83E7EC-D646-A576-E9F7-1488D8D643CB}"/>
          </ac:graphicFrameMkLst>
        </pc:graphicFrameChg>
      </pc:sldChg>
      <pc:sldChg chg="addSp delSp modSp mod ord">
        <pc:chgData name="Erik Domogalla" userId="5acd3f83243d5ceb" providerId="LiveId" clId="{479D7EBB-65EC-407B-8531-865139CA410A}" dt="2025-11-16T21:45:15.629" v="205" actId="1076"/>
        <pc:sldMkLst>
          <pc:docMk/>
          <pc:sldMk cId="2199223345" sldId="313"/>
        </pc:sldMkLst>
        <pc:spChg chg="add del mod">
          <ac:chgData name="Erik Domogalla" userId="5acd3f83243d5ceb" providerId="LiveId" clId="{479D7EBB-65EC-407B-8531-865139CA410A}" dt="2025-11-16T21:45:05.501" v="202" actId="478"/>
          <ac:spMkLst>
            <pc:docMk/>
            <pc:sldMk cId="2199223345" sldId="313"/>
            <ac:spMk id="3" creationId="{A4E468C9-AEF2-A7A3-7688-E86B0F262AFF}"/>
          </ac:spMkLst>
        </pc:spChg>
        <pc:spChg chg="mod">
          <ac:chgData name="Erik Domogalla" userId="5acd3f83243d5ceb" providerId="LiveId" clId="{479D7EBB-65EC-407B-8531-865139CA410A}" dt="2025-11-16T21:45:15.629" v="205" actId="1076"/>
          <ac:spMkLst>
            <pc:docMk/>
            <pc:sldMk cId="2199223345" sldId="313"/>
            <ac:spMk id="12" creationId="{44DA7525-CAAB-2E16-419F-DED1C02BC2AB}"/>
          </ac:spMkLst>
        </pc:spChg>
        <pc:spChg chg="mod">
          <ac:chgData name="Erik Domogalla" userId="5acd3f83243d5ceb" providerId="LiveId" clId="{479D7EBB-65EC-407B-8531-865139CA410A}" dt="2025-11-16T21:45:15.629" v="205" actId="1076"/>
          <ac:spMkLst>
            <pc:docMk/>
            <pc:sldMk cId="2199223345" sldId="313"/>
            <ac:spMk id="30" creationId="{3BA4E360-22AC-5AF3-DDA1-82DF6A1E0A50}"/>
          </ac:spMkLst>
        </pc:spChg>
        <pc:picChg chg="mod">
          <ac:chgData name="Erik Domogalla" userId="5acd3f83243d5ceb" providerId="LiveId" clId="{479D7EBB-65EC-407B-8531-865139CA410A}" dt="2025-11-16T21:45:15.629" v="205" actId="1076"/>
          <ac:picMkLst>
            <pc:docMk/>
            <pc:sldMk cId="2199223345" sldId="313"/>
            <ac:picMk id="2052" creationId="{60244789-E3E5-0EEC-410B-6A122E8FFA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9A2D55D-E9BC-4C36-B72D-B1213935B848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146D6B-7675-4AF9-A4D9-D66329B706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32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46D6B-7675-4AF9-A4D9-D66329B706F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129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46D6B-7675-4AF9-A4D9-D66329B706F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123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8B37-C181-9391-4086-732F0C60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0593BB-9C0D-E45B-93CE-EF3CC8987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99FC9A-236F-D6B8-CBB2-6860307FF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1532BD-515E-8057-C714-2E64D3BC0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46D6B-7675-4AF9-A4D9-D66329B706F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6566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1BD0-B393-511C-5A08-32903770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AF2F1CA-D396-2943-7B50-8D8BFD434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64BF4E3-4E4F-25EC-DD47-66FA0AF04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baseline="0" dirty="0"/>
              <a:t>Klimaziele, CO2-Steuer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baseline="0" dirty="0"/>
              <a:t>Fossile Energieträger begrenzt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baseline="0" dirty="0"/>
              <a:t>Prozessbedingte Emissionen = kaum direkt vermeidbar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de-DE" baseline="0" dirty="0"/>
              <a:t>Nutzen von CO2 als Rohstoff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de-DE" baseline="0" dirty="0"/>
              <a:t>Kohlenstoffquelle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de-DE" baseline="0" dirty="0"/>
              <a:t>Vermeiden von Emissionen (CCU)	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baseline="0" dirty="0"/>
              <a:t>Nutzen von Modellierung für Entwicklung neuer Prozesse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B1FF09-15BC-2257-1F36-45383DB2D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46D6B-7675-4AF9-A4D9-D66329B706F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06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8699-0857-410C-254F-D240AE14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802658-1E9B-B10C-8997-78B0773DE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ACB1705-BECC-C363-161E-DA7DCC3E6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9B0EB0-42FA-6CB6-C29B-358E3E4E9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46D6B-7675-4AF9-A4D9-D66329B706F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6772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46D6B-7675-4AF9-A4D9-D66329B706F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0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microsoft.com/office/2007/relationships/hdphoto" Target="../media/hdphoto3.wdp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2.wdp"/><Relationship Id="rId9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ild individuell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44462"/>
            <a:ext cx="12192000" cy="281353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8C8C45B-0590-C7B4-4504-AF5F749CE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9554E58-6C8D-C438-4557-B795D4C2E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98AFF68E-B822-4231-A61A-A6F10FDB7A1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3528"/>
            <a:ext cx="0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Untertitel 2">
            <a:extLst>
              <a:ext uri="{FF2B5EF4-FFF2-40B4-BE49-F238E27FC236}">
                <a16:creationId xmlns:a16="http://schemas.microsoft.com/office/drawing/2014/main" id="{56B27123-8F5C-F2DB-F8F9-639C4EE84C5A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Erik Domogalla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3E08339-CDA6-4998-8203-6D82A84FEF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0803F11-8F2D-47CE-8B6B-75316576092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32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rgbClr val="004A7D"/>
                </a:solidFill>
                <a:effectLst/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02DA826B-3C40-6C4D-C9B8-474479861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2A691E1A-CBB1-B782-9D07-EC4D42689F31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76B5698-7D47-4193-A9DA-28B270A863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7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lauer Hintergrund">
    <p:bg>
      <p:bgPr>
        <a:gradFill flip="none" rotWithShape="1">
          <a:gsLst>
            <a:gs pos="0">
              <a:srgbClr val="0069B4">
                <a:alpha val="25000"/>
              </a:srgbClr>
            </a:gs>
            <a:gs pos="35000">
              <a:srgbClr val="0069B4"/>
            </a:gs>
            <a:gs pos="15000">
              <a:srgbClr val="0069B4">
                <a:alpha val="70000"/>
              </a:srgbClr>
            </a:gs>
            <a:gs pos="100000">
              <a:srgbClr val="0069B4"/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  <a:noFill/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DD325A48-8474-9C09-4587-372790D5A0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19" y="348327"/>
            <a:ext cx="1800000" cy="636021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5DB27594-909F-AD69-46E3-8F655F1AE30F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87A7412-90E1-460A-AEE5-9547E9D764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8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0C982A6E-B854-614E-80C2-782A66419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083" y="1968104"/>
            <a:ext cx="10976598" cy="1611917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000" b="0" i="0" cap="all" spc="0" baseline="0">
                <a:solidFill>
                  <a:srgbClr val="004A7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F72706C7-B025-2E4B-99F6-271DCFCCB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83" y="3800669"/>
            <a:ext cx="10976597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29EC27-6B75-5683-899C-CEE80C23EAA2}"/>
              </a:ext>
            </a:extLst>
          </p:cNvPr>
          <p:cNvSpPr txBox="1"/>
          <p:nvPr userDrawn="1"/>
        </p:nvSpPr>
        <p:spPr>
          <a:xfrm>
            <a:off x="7208613" y="5508839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77986-215E-49C4-1E98-21F190856D43}"/>
              </a:ext>
            </a:extLst>
          </p:cNvPr>
          <p:cNvSpPr txBox="1"/>
          <p:nvPr userDrawn="1"/>
        </p:nvSpPr>
        <p:spPr>
          <a:xfrm>
            <a:off x="1371600" y="6350696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879BACC-6AFA-9366-6C23-4DBF780B5600}"/>
              </a:ext>
            </a:extLst>
          </p:cNvPr>
          <p:cNvSpPr txBox="1"/>
          <p:nvPr userDrawn="1"/>
        </p:nvSpPr>
        <p:spPr>
          <a:xfrm>
            <a:off x="5278295" y="5732342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417703-DC8E-AEE4-B1CF-FB23BEB05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6DA9FD0-97D6-4538-B0CC-017B9A5BB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6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lock - Standar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6" y="1494000"/>
            <a:ext cx="10982535" cy="4320000"/>
          </a:xfrm>
          <a:prstGeom prst="rect">
            <a:avLst/>
          </a:prstGeom>
          <a:noFill/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A72AF320-A3F9-45DF-B782-940CBEB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282EAE-BCE7-4455-BD16-370E718740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6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6" y="1494000"/>
            <a:ext cx="10982535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A72AF320-A3F9-45DF-B782-940CBEB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282EAE-BCE7-4455-BD16-370E718740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5310000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32763" y="1495013"/>
            <a:ext cx="5310000" cy="432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90E5163-BE0A-4B2F-A28A-C8DBA9395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2F2FE4F-7463-48D7-931C-FEE1B526F0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0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10982536" cy="20268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0225" y="3787200"/>
            <a:ext cx="10982538" cy="20268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120A59D-D010-4650-8402-FB8188211A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C78D196-3515-4800-9B0D-F52C40DAC4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4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3D5E6CAA-4987-4C2C-A75A-4922895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5B3DF7E-6280-4A5C-8B60-606A99B757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3481200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A78DC52-EC83-485C-9CFF-42ACCCFB2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7959" y="1495013"/>
            <a:ext cx="3484800" cy="4320000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02C79E1-A479-4E60-B17B-2BD8156334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07200" y="1495013"/>
            <a:ext cx="3481200" cy="432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4DD858-AECF-4B49-BDB9-B64A054CF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45D7E6-E261-4166-8071-6523B3F841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5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81CC92ED-60A6-4945-A86B-D9156B11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26744B30-7223-476F-A991-E3900CAA6F2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10982536" cy="126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04F6CD12-C214-4A08-817A-C2A8D1329D7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230D0EC-00D6-4871-B41E-8CB66DA87BC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0225" y="3024000"/>
            <a:ext cx="10982536" cy="126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E7682B0-B96A-4E17-9CF9-69ACAFE320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5F3044D-BDF4-4785-96E6-F562B575EF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5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, 1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5356800" cy="27936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85959" y="1495013"/>
            <a:ext cx="5356800" cy="27936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B0FC1A7-7B4B-447B-99AD-5458F7A1CA2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F98DFF1-E929-4661-BEE0-6B8555B6AA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745ED86-B7AE-4627-B994-FAABF8B2BE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09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vertikal 1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3D5E6CAA-4987-4C2C-A75A-4922895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5B3DF7E-6280-4A5C-8B60-606A99B757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3481200" cy="27936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A78DC52-EC83-485C-9CFF-42ACCCFB2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7959" y="1495013"/>
            <a:ext cx="3484800" cy="2792618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02C79E1-A479-4E60-B17B-2BD8156334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07200" y="1495013"/>
            <a:ext cx="3481200" cy="2792618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4DD858-AECF-4B49-BDB9-B64A054CF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45D7E6-E261-4166-8071-6523B3F841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9CE6044-1AC6-4A91-87E8-B53533E2371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15112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itel + Text / Tabelle, Bild,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7422" y="1562100"/>
            <a:ext cx="11233259" cy="4372841"/>
          </a:xfrm>
          <a:prstGeom prst="rect">
            <a:avLst/>
          </a:prstGeom>
        </p:spPr>
        <p:txBody>
          <a:bodyPr lIns="0" rIns="0"/>
          <a:lstStyle>
            <a:lvl1pPr marL="285750" indent="-285750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800">
                <a:latin typeface="+mn-lt"/>
              </a:defRPr>
            </a:lvl1pPr>
            <a:lvl2pPr marL="742950" indent="-285750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200150" indent="-285750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57350" indent="-285750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4pPr>
            <a:lvl5pPr marL="2000250" indent="-171450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22" y="779158"/>
            <a:ext cx="11233259" cy="639735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3CFE98C3-2FAA-4BA8-8C9A-6822BCCA4E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529" y="6219765"/>
            <a:ext cx="444152" cy="44548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87F6C34-35CC-4615-B4C2-D2E23A8E07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138" y="6219307"/>
            <a:ext cx="409671" cy="468000"/>
          </a:xfrm>
          <a:prstGeom prst="rect">
            <a:avLst/>
          </a:prstGeom>
        </p:spPr>
      </p:pic>
      <p:sp>
        <p:nvSpPr>
          <p:cNvPr id="12" name="Titel 3">
            <a:extLst>
              <a:ext uri="{FF2B5EF4-FFF2-40B4-BE49-F238E27FC236}">
                <a16:creationId xmlns:a16="http://schemas.microsoft.com/office/drawing/2014/main" id="{A33321E7-1D4D-4F33-8F58-BAA548078DE0}"/>
              </a:ext>
            </a:extLst>
          </p:cNvPr>
          <p:cNvSpPr txBox="1">
            <a:spLocks/>
          </p:cNvSpPr>
          <p:nvPr userDrawn="1"/>
        </p:nvSpPr>
        <p:spPr>
          <a:xfrm>
            <a:off x="497422" y="343862"/>
            <a:ext cx="9521652" cy="429622"/>
          </a:xfrm>
          <a:prstGeom prst="rect">
            <a:avLst/>
          </a:prstGeom>
        </p:spPr>
        <p:txBody>
          <a:bodyPr lIns="0" t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004A7D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528467090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luss"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7B2627D8-5177-4652-A3D9-25900D69C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7341"/>
          <a:stretch/>
        </p:blipFill>
        <p:spPr>
          <a:xfrm>
            <a:off x="0" y="4140200"/>
            <a:ext cx="12192000" cy="271779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476BA20-381A-4DBA-B724-154B8F7CC19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57" y="5915993"/>
            <a:ext cx="1944000" cy="6848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1C60DCD-6AE9-4FBF-986D-04DF3DB8064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79935" y="5892125"/>
            <a:ext cx="2436158" cy="684000"/>
            <a:chOff x="3088004" y="5708535"/>
            <a:chExt cx="3694558" cy="1037320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B5E37963-F67D-42F0-B26B-CB25F343392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86"/>
            <a:stretch/>
          </p:blipFill>
          <p:spPr>
            <a:xfrm>
              <a:off x="4107179" y="5708535"/>
              <a:ext cx="2675383" cy="1037320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980FF187-7D75-4247-9E5C-F0816F21A2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8004" y="5708535"/>
              <a:ext cx="909322" cy="1037320"/>
            </a:xfrm>
            <a:prstGeom prst="rect">
              <a:avLst/>
            </a:prstGeom>
          </p:spPr>
        </p:pic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96483DC1-F1B6-49AE-8E20-159995C9E64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972" y="5892125"/>
            <a:ext cx="2302613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71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ild individuell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44462"/>
            <a:ext cx="12192000" cy="281353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8C8C45B-0590-C7B4-4504-AF5F749CE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9554E58-6C8D-C438-4557-B795D4C2E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98AFF68E-B822-4231-A61A-A6F10FDB7A1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3528"/>
            <a:ext cx="0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Untertitel 2">
            <a:extLst>
              <a:ext uri="{FF2B5EF4-FFF2-40B4-BE49-F238E27FC236}">
                <a16:creationId xmlns:a16="http://schemas.microsoft.com/office/drawing/2014/main" id="{56B27123-8F5C-F2DB-F8F9-639C4EE84C5A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D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3E08339-CDA6-4998-8203-6D82A84FEF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0803F11-8F2D-47CE-8B6B-75316576092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65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rgbClr val="004A7D"/>
                </a:solidFill>
                <a:effectLst/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02DA826B-3C40-6C4D-C9B8-474479861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2A691E1A-CBB1-B782-9D07-EC4D42689F31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D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76B5698-7D47-4193-A9DA-28B270A863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3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lauer Hintergrund">
    <p:bg>
      <p:bgPr>
        <a:gradFill flip="none" rotWithShape="1">
          <a:gsLst>
            <a:gs pos="0">
              <a:srgbClr val="0069B4">
                <a:alpha val="25000"/>
              </a:srgbClr>
            </a:gs>
            <a:gs pos="35000">
              <a:srgbClr val="0069B4"/>
            </a:gs>
            <a:gs pos="15000">
              <a:srgbClr val="0069B4">
                <a:alpha val="70000"/>
              </a:srgbClr>
            </a:gs>
            <a:gs pos="100000">
              <a:srgbClr val="0069B4"/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  <a:noFill/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600" b="0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Spartan ExtraBold" pitchFamily="2" charset="77"/>
              <a:ea typeface="+mn-ea"/>
              <a:cs typeface="+mn-cs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DD325A48-8474-9C09-4587-372790D5A0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19" y="348327"/>
            <a:ext cx="1800000" cy="636021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5DB27594-909F-AD69-46E3-8F655F1AE30F}"/>
              </a:ext>
            </a:extLst>
          </p:cNvPr>
          <p:cNvSpPr txBox="1">
            <a:spLocks/>
          </p:cNvSpPr>
          <p:nvPr userDrawn="1"/>
        </p:nvSpPr>
        <p:spPr>
          <a:xfrm>
            <a:off x="1333595" y="5843588"/>
            <a:ext cx="10397084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D"/>
              </a:buClr>
              <a:buFont typeface="Wingdings" pitchFamily="2" charset="2"/>
              <a:buNone/>
              <a:defRPr sz="2600" b="0" i="0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SzPct val="10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4A7D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A7D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87A7412-90E1-460A-AEE5-9547E9D764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98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0C982A6E-B854-614E-80C2-782A66419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083" y="1968104"/>
            <a:ext cx="10976598" cy="1611917"/>
          </a:xfrm>
          <a:prstGeom prst="rect">
            <a:avLst/>
          </a:prstGeom>
          <a:noFill/>
        </p:spPr>
        <p:txBody>
          <a:bodyPr lIns="0" tIns="0" rIns="0" anchor="t">
            <a:noAutofit/>
          </a:bodyPr>
          <a:lstStyle>
            <a:lvl1pPr algn="l">
              <a:lnSpc>
                <a:spcPct val="120000"/>
              </a:lnSpc>
              <a:defRPr sz="3000" b="0" i="0" cap="all" spc="0" baseline="0">
                <a:solidFill>
                  <a:srgbClr val="004A7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F72706C7-B025-2E4B-99F6-271DCFCCB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83" y="3800669"/>
            <a:ext cx="10976597" cy="999932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29EC27-6B75-5683-899C-CEE80C23EAA2}"/>
              </a:ext>
            </a:extLst>
          </p:cNvPr>
          <p:cNvSpPr txBox="1"/>
          <p:nvPr userDrawn="1"/>
        </p:nvSpPr>
        <p:spPr>
          <a:xfrm>
            <a:off x="7208613" y="5508839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Spartan ExtraBold" pitchFamily="2" charset="77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77986-215E-49C4-1E98-21F190856D43}"/>
              </a:ext>
            </a:extLst>
          </p:cNvPr>
          <p:cNvSpPr txBox="1"/>
          <p:nvPr userDrawn="1"/>
        </p:nvSpPr>
        <p:spPr>
          <a:xfrm>
            <a:off x="1371600" y="6350696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Spartan ExtraBold" pitchFamily="2" charset="77"/>
              <a:ea typeface="+mn-ea"/>
              <a:cs typeface="+mn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879BACC-6AFA-9366-6C23-4DBF780B5600}"/>
              </a:ext>
            </a:extLst>
          </p:cNvPr>
          <p:cNvSpPr txBox="1"/>
          <p:nvPr userDrawn="1"/>
        </p:nvSpPr>
        <p:spPr>
          <a:xfrm>
            <a:off x="5278295" y="5732342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Spartan ExtraBold" pitchFamily="2" charset="77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417703-DC8E-AEE4-B1CF-FB23BEB05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48327"/>
            <a:ext cx="1799436" cy="63582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6DA9FD0-97D6-4538-B0CC-017B9A5BB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71" y="270237"/>
            <a:ext cx="319044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41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6" y="1494000"/>
            <a:ext cx="10982535" cy="43200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A72AF320-A3F9-45DF-B782-940CBEB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282EAE-BCE7-4455-BD16-370E718740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50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5310000" cy="43200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32763" y="1495013"/>
            <a:ext cx="5310000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90E5163-BE0A-4B2F-A28A-C8DBA9395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2F2FE4F-7463-48D7-931C-FEE1B526F0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155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10982536" cy="20268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0225" y="3787200"/>
            <a:ext cx="10982538" cy="20268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120A59D-D010-4650-8402-FB8188211A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C78D196-3515-4800-9B0D-F52C40DAC4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288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3D5E6CAA-4987-4C2C-A75A-4922895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5B3DF7E-6280-4A5C-8B60-606A99B757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3481200" cy="43200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A78DC52-EC83-485C-9CFF-42ACCCFB2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7959" y="1495013"/>
            <a:ext cx="3484800" cy="432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02C79E1-A479-4E60-B17B-2BD8156334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07200" y="1495013"/>
            <a:ext cx="3481200" cy="432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4DD858-AECF-4B49-BDB9-B64A054CF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45D7E6-E261-4166-8071-6523B3F841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03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81CC92ED-60A6-4945-A86B-D9156B11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26744B30-7223-476F-A991-E3900CAA6F2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10982536" cy="12600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04F6CD12-C214-4A08-817A-C2A8D1329D7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230D0EC-00D6-4871-B41E-8CB66DA87BC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0225" y="3024000"/>
            <a:ext cx="10982536" cy="12600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E7682B0-B96A-4E17-9CF9-69ACAFE320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5F3044D-BDF4-4785-96E6-F562B575EF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381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öcke, 1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23C83711-D7AE-B6FC-12A5-E27D3D5C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5F85C43-184F-4DDE-A9C9-6F1187750DC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5356800" cy="27936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201D2C7-70DA-4170-BF21-50E2D7E918D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85959" y="1495013"/>
            <a:ext cx="5356800" cy="2793600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B0FC1A7-7B4B-447B-99AD-5458F7A1CA2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F98DFF1-E929-4661-BEE0-6B8555B6AA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745ED86-B7AE-4627-B994-FAABF8B2BE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39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öcke vertikal 1 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3D5E6CAA-4987-4C2C-A75A-4922895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5B3DF7E-6280-4A5C-8B60-606A99B757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0225" y="1495013"/>
            <a:ext cx="3481200" cy="2793600"/>
          </a:xfrm>
          <a:prstGeom prst="rect">
            <a:avLst/>
          </a:prstGeom>
          <a:solidFill>
            <a:schemeClr val="accent3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A78DC52-EC83-485C-9CFF-42ACCCFB2CF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7959" y="1495013"/>
            <a:ext cx="3484800" cy="2792618"/>
          </a:xfrm>
          <a:prstGeom prst="rect">
            <a:avLst/>
          </a:prstGeom>
          <a:solidFill>
            <a:schemeClr val="accent5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02C79E1-A479-4E60-B17B-2BD8156334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07200" y="1495013"/>
            <a:ext cx="3481200" cy="2792618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E4DD858-AECF-4B49-BDB9-B64A054CF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481" y="6116369"/>
            <a:ext cx="574278" cy="57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A45D7E6-E261-4166-8071-6523B3F841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97462" l="1356" r="95993">
                        <a14:foregroundMark x1="48027" y1="16955" x2="48027" y2="16955"/>
                        <a14:foregroundMark x1="51356" y1="4698" x2="51356" y2="4698"/>
                        <a14:foregroundMark x1="34032" y1="19276" x2="34032" y2="19276"/>
                        <a14:foregroundMark x1="62022" y1="18143" x2="62022" y2="18143"/>
                        <a14:foregroundMark x1="75339" y1="25108" x2="75339" y2="25108"/>
                        <a14:foregroundMark x1="87300" y1="43790" x2="87300" y2="43790"/>
                        <a14:foregroundMark x1="88656" y1="30940" x2="88656" y2="30940"/>
                        <a14:foregroundMark x1="38718" y1="85205" x2="38718" y2="85205"/>
                        <a14:foregroundMark x1="19359" y1="74730" x2="19359" y2="74730"/>
                        <a14:foregroundMark x1="95993" y1="27430" x2="95993" y2="27430"/>
                        <a14:foregroundMark x1="48705" y1="95140" x2="48705" y2="95140"/>
                        <a14:foregroundMark x1="1418" y1="72948" x2="1418" y2="72948"/>
                        <a14:foregroundMark x1="47349" y1="97462" x2="47349" y2="97462"/>
                        <a14:backgroundMark x1="35388" y1="17549" x2="35388" y2="17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5257" y="6080369"/>
            <a:ext cx="567525" cy="6480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9CE6044-1AC6-4A91-87E8-B53533E2371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60224" y="4554000"/>
            <a:ext cx="10982535" cy="1260000"/>
          </a:xfrm>
          <a:prstGeom prst="rect">
            <a:avLst/>
          </a:prstGeom>
          <a:solidFill>
            <a:schemeClr val="accent6"/>
          </a:solidFill>
        </p:spPr>
        <p:txBody>
          <a:bodyPr lIns="108000" tIns="54000" rIns="108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6304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E0046696-EFCE-4764-B2BD-E7914851D544}"/>
              </a:ext>
            </a:extLst>
          </p:cNvPr>
          <p:cNvSpPr/>
          <p:nvPr userDrawn="1"/>
        </p:nvSpPr>
        <p:spPr>
          <a:xfrm>
            <a:off x="0" y="5994000"/>
            <a:ext cx="12191999" cy="864000"/>
          </a:xfrm>
          <a:prstGeom prst="rect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Gerade Verbindung 3">
            <a:extLst>
              <a:ext uri="{FF2B5EF4-FFF2-40B4-BE49-F238E27FC236}">
                <a16:creationId xmlns:a16="http://schemas.microsoft.com/office/drawing/2014/main" id="{2495EACA-308F-418C-B9EA-94945FBC3B2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5FD97FBB-86D5-40D9-B3EC-5398F9E11FEC}"/>
              </a:ext>
            </a:extLst>
          </p:cNvPr>
          <p:cNvSpPr txBox="1">
            <a:spLocks/>
          </p:cNvSpPr>
          <p:nvPr userDrawn="1"/>
        </p:nvSpPr>
        <p:spPr>
          <a:xfrm>
            <a:off x="194239" y="6274750"/>
            <a:ext cx="494764" cy="365125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1FBD69-6E57-4E10-B6F4-1F4D658D73AC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77748-C6C4-4817-BE47-EAF1BEA38A72}"/>
              </a:ext>
            </a:extLst>
          </p:cNvPr>
          <p:cNvSpPr txBox="1">
            <a:spLocks/>
          </p:cNvSpPr>
          <p:nvPr userDrawn="1"/>
        </p:nvSpPr>
        <p:spPr>
          <a:xfrm>
            <a:off x="902677" y="6223950"/>
            <a:ext cx="6864875" cy="533387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l" defTabSz="914400" rtl="0" eaLnBrk="1" latinLnBrk="0" hangingPunct="1">
              <a:lnSpc>
                <a:spcPct val="150000"/>
              </a:lnSpc>
              <a:defRPr sz="1000" b="0" i="0" kern="1200" spc="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+mn-lt"/>
              </a:rPr>
              <a:t>Erik Domogalla</a:t>
            </a:r>
          </a:p>
          <a:p>
            <a:r>
              <a:rPr lang="de-DE" dirty="0">
                <a:latin typeface="+mn-lt"/>
              </a:rPr>
              <a:t>Präsentation Belegaufgabe Modellierung und Optimierung chemischer Reaktoren</a:t>
            </a:r>
          </a:p>
        </p:txBody>
      </p:sp>
    </p:spTree>
    <p:extLst>
      <p:ext uri="{BB962C8B-B14F-4D97-AF65-F5344CB8AC3E}">
        <p14:creationId xmlns:p14="http://schemas.microsoft.com/office/powerpoint/2010/main" val="289539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69" r:id="rId2"/>
    <p:sldLayoutId id="2147483691" r:id="rId3"/>
    <p:sldLayoutId id="2147483649" r:id="rId4"/>
    <p:sldLayoutId id="2147483732" r:id="rId5"/>
    <p:sldLayoutId id="2147483682" r:id="rId6"/>
    <p:sldLayoutId id="2147483670" r:id="rId7"/>
    <p:sldLayoutId id="2147483692" r:id="rId8"/>
    <p:sldLayoutId id="2147483665" r:id="rId9"/>
    <p:sldLayoutId id="2147483672" r:id="rId10"/>
    <p:sldLayoutId id="2147483693" r:id="rId11"/>
    <p:sldLayoutId id="2147483695" r:id="rId12"/>
    <p:sldLayoutId id="2147483733" r:id="rId13"/>
    <p:sldLayoutId id="2147483734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4A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E0046696-EFCE-4764-B2BD-E7914851D544}"/>
              </a:ext>
            </a:extLst>
          </p:cNvPr>
          <p:cNvSpPr/>
          <p:nvPr userDrawn="1"/>
        </p:nvSpPr>
        <p:spPr>
          <a:xfrm>
            <a:off x="0" y="5994000"/>
            <a:ext cx="12191999" cy="864000"/>
          </a:xfrm>
          <a:prstGeom prst="rect">
            <a:avLst/>
          </a:prstGeom>
          <a:solidFill>
            <a:srgbClr val="E7ED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" name="Gerade Verbindung 3">
            <a:extLst>
              <a:ext uri="{FF2B5EF4-FFF2-40B4-BE49-F238E27FC236}">
                <a16:creationId xmlns:a16="http://schemas.microsoft.com/office/drawing/2014/main" id="{2495EACA-308F-418C-B9EA-94945FBC3B2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5FD97FBB-86D5-40D9-B3EC-5398F9E11FEC}"/>
              </a:ext>
            </a:extLst>
          </p:cNvPr>
          <p:cNvSpPr txBox="1">
            <a:spLocks/>
          </p:cNvSpPr>
          <p:nvPr userDrawn="1"/>
        </p:nvSpPr>
        <p:spPr>
          <a:xfrm>
            <a:off x="194239" y="6274750"/>
            <a:ext cx="494764" cy="365125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1FBD69-6E57-4E10-B6F4-1F4D658D73AC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4A7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004A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77748-C6C4-4817-BE47-EAF1BEA38A72}"/>
              </a:ext>
            </a:extLst>
          </p:cNvPr>
          <p:cNvSpPr txBox="1">
            <a:spLocks/>
          </p:cNvSpPr>
          <p:nvPr userDrawn="1"/>
        </p:nvSpPr>
        <p:spPr>
          <a:xfrm>
            <a:off x="902677" y="6223950"/>
            <a:ext cx="6864875" cy="533387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l" defTabSz="914400" rtl="0" eaLnBrk="1" latinLnBrk="0" hangingPunct="1">
              <a:lnSpc>
                <a:spcPct val="150000"/>
              </a:lnSpc>
              <a:defRPr sz="1000" b="0" i="0" kern="1200" spc="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4A7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Name des Referenten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4A7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Titel des Vortrages</a:t>
            </a:r>
          </a:p>
        </p:txBody>
      </p:sp>
    </p:spTree>
    <p:extLst>
      <p:ext uri="{BB962C8B-B14F-4D97-AF65-F5344CB8AC3E}">
        <p14:creationId xmlns:p14="http://schemas.microsoft.com/office/powerpoint/2010/main" val="2812556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4A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2A242-ECA4-49DC-8D15-7F5EC0C89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1620" y="1883791"/>
            <a:ext cx="10397085" cy="1314518"/>
          </a:xfrm>
        </p:spPr>
        <p:txBody>
          <a:bodyPr/>
          <a:lstStyle/>
          <a:p>
            <a:r>
              <a:rPr lang="de-DE" dirty="0"/>
              <a:t>Modellierung und Optimierung chemischer Reaktoren</a:t>
            </a:r>
            <a:br>
              <a:rPr lang="de-DE" dirty="0"/>
            </a:br>
            <a:endParaRPr lang="de-DE" sz="3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E7A8766-7F5E-0577-3EA8-8D448EF899D8}"/>
              </a:ext>
            </a:extLst>
          </p:cNvPr>
          <p:cNvSpPr txBox="1"/>
          <p:nvPr/>
        </p:nvSpPr>
        <p:spPr>
          <a:xfrm>
            <a:off x="1271620" y="3270324"/>
            <a:ext cx="6680499" cy="935916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noAutofit/>
          </a:bodyPr>
          <a:lstStyle/>
          <a:p>
            <a:pPr algn="l"/>
            <a:r>
              <a:rPr lang="de-DE" sz="3200" dirty="0">
                <a:solidFill>
                  <a:schemeClr val="tx2"/>
                </a:solidFill>
              </a:rPr>
              <a:t>Belegaufgabe</a:t>
            </a:r>
            <a:endParaRPr lang="de-DE" sz="3200" i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76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8EB96A5-A588-B77E-8FBA-0E422DB4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Koppeln des Reaktormodells mit </a:t>
            </a:r>
            <a:r>
              <a:rPr lang="de-DE" dirty="0" err="1"/>
              <a:t>einkriterieller</a:t>
            </a:r>
            <a:r>
              <a:rPr lang="de-DE" dirty="0"/>
              <a:t> Optimierung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E26CCF2-3957-3D0E-FF1B-45F4BBF85F96}"/>
              </a:ext>
            </a:extLst>
          </p:cNvPr>
          <p:cNvSpPr/>
          <p:nvPr/>
        </p:nvSpPr>
        <p:spPr>
          <a:xfrm>
            <a:off x="8451851" y="1625833"/>
            <a:ext cx="2266950" cy="358138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5F8C050-E258-F98B-6F77-E5003D8015DE}"/>
              </a:ext>
            </a:extLst>
          </p:cNvPr>
          <p:cNvSpPr/>
          <p:nvPr/>
        </p:nvSpPr>
        <p:spPr>
          <a:xfrm>
            <a:off x="8451852" y="1625833"/>
            <a:ext cx="2266949" cy="762019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Klasse PFR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4BA53BA-B552-9333-23F3-93EAA6CDBB2C}"/>
              </a:ext>
            </a:extLst>
          </p:cNvPr>
          <p:cNvSpPr/>
          <p:nvPr/>
        </p:nvSpPr>
        <p:spPr>
          <a:xfrm>
            <a:off x="5720081" y="1923382"/>
            <a:ext cx="1897380" cy="132550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Feste 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Temperatur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Druck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…</a:t>
            </a:r>
          </a:p>
        </p:txBody>
      </p: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E1CD0D66-F168-97D7-C56B-A2DFA2BF49C8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7617461" y="2006843"/>
            <a:ext cx="834391" cy="579293"/>
          </a:xfrm>
          <a:prstGeom prst="bentConnector3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B09123EC-0D01-F40B-4F9C-BCFE2D85387F}"/>
              </a:ext>
            </a:extLst>
          </p:cNvPr>
          <p:cNvSpPr/>
          <p:nvPr/>
        </p:nvSpPr>
        <p:spPr>
          <a:xfrm>
            <a:off x="5720081" y="3468307"/>
            <a:ext cx="1897380" cy="158086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2"/>
                </a:solidFill>
              </a:rPr>
              <a:t>Parameter zum Optimieren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A/V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Durchmesser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Porosität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DC10CE5C-9A3F-C33A-AB3B-990985926CC2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 flipV="1">
            <a:off x="7617461" y="3715642"/>
            <a:ext cx="931546" cy="543096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309A40BE-E800-395D-DB0F-7A3506E63118}"/>
              </a:ext>
            </a:extLst>
          </p:cNvPr>
          <p:cNvSpPr/>
          <p:nvPr/>
        </p:nvSpPr>
        <p:spPr>
          <a:xfrm>
            <a:off x="8549007" y="3404185"/>
            <a:ext cx="2072638" cy="622913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3"/>
                </a:solidFill>
              </a:rPr>
              <a:t>Methan berechnen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3CCB2B8-D0C7-E45D-E57A-E23D0DA3C500}"/>
              </a:ext>
            </a:extLst>
          </p:cNvPr>
          <p:cNvSpPr/>
          <p:nvPr/>
        </p:nvSpPr>
        <p:spPr>
          <a:xfrm>
            <a:off x="8549007" y="2525943"/>
            <a:ext cx="2072638" cy="622913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3"/>
                </a:solidFill>
              </a:rPr>
              <a:t>Reaktor Simulieren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D9B47D7-DFC5-D75D-54EE-1B8CF988422B}"/>
              </a:ext>
            </a:extLst>
          </p:cNvPr>
          <p:cNvSpPr/>
          <p:nvPr/>
        </p:nvSpPr>
        <p:spPr>
          <a:xfrm>
            <a:off x="8549007" y="4339724"/>
            <a:ext cx="2072638" cy="622913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3"/>
                </a:solidFill>
              </a:rPr>
              <a:t>…</a:t>
            </a: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9E12489A-D5DC-2976-B9B2-0FC728AE1B62}"/>
              </a:ext>
            </a:extLst>
          </p:cNvPr>
          <p:cNvSpPr txBox="1">
            <a:spLocks/>
          </p:cNvSpPr>
          <p:nvPr/>
        </p:nvSpPr>
        <p:spPr>
          <a:xfrm>
            <a:off x="708778" y="4047282"/>
            <a:ext cx="4381381" cy="1698198"/>
          </a:xfrm>
          <a:prstGeom prst="rect">
            <a:avLst/>
          </a:prstGeom>
          <a:solidFill>
            <a:srgbClr val="B4D8AE"/>
          </a:solidFill>
        </p:spPr>
        <p:txBody>
          <a:bodyPr lIns="0" rIns="0"/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de-DE" dirty="0"/>
              <a:t>Bounds von Parametern der Optimierung angeben </a:t>
            </a:r>
          </a:p>
          <a:p>
            <a:pPr>
              <a:buClrTx/>
            </a:pPr>
            <a:r>
              <a:rPr lang="de-DE" dirty="0"/>
              <a:t>Funktion zum Methanausstoß minimieren</a:t>
            </a:r>
          </a:p>
          <a:p>
            <a:pPr>
              <a:buClrTx/>
            </a:pPr>
            <a:r>
              <a:rPr lang="de-DE" dirty="0" err="1"/>
              <a:t>scipy.optimize.differnetial_evolution</a:t>
            </a:r>
            <a:r>
              <a:rPr lang="de-DE" dirty="0"/>
              <a:t>()</a:t>
            </a:r>
          </a:p>
          <a:p>
            <a:pPr>
              <a:buClrTx/>
            </a:pPr>
            <a:endParaRPr lang="de-DE" dirty="0"/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0BA2BFB7-5EFF-5EE0-453D-98E716848992}"/>
              </a:ext>
            </a:extLst>
          </p:cNvPr>
          <p:cNvSpPr txBox="1">
            <a:spLocks/>
          </p:cNvSpPr>
          <p:nvPr/>
        </p:nvSpPr>
        <p:spPr>
          <a:xfrm>
            <a:off x="708779" y="1625833"/>
            <a:ext cx="4381380" cy="2214509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Modell PFR als Klasse mit Unterfunktionen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Vorteil: Reaktoreigenschaften lassen sich schnell ändern; Code wiederverwendbar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Nachteil: Objektorientierte Programmierung komplizierter</a:t>
            </a:r>
          </a:p>
        </p:txBody>
      </p:sp>
    </p:spTree>
    <p:extLst>
      <p:ext uri="{BB962C8B-B14F-4D97-AF65-F5344CB8AC3E}">
        <p14:creationId xmlns:p14="http://schemas.microsoft.com/office/powerpoint/2010/main" val="2591769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CBFB-0AA3-BB81-AD36-4599C4015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5C9880F-2DE4-DE3D-CDE9-36064646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Multikriterielle</a:t>
            </a:r>
            <a:r>
              <a:rPr lang="de-DE" dirty="0"/>
              <a:t> Optimierung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ED3F489-052D-08C9-ADB7-87B3EF6EB5DD}"/>
              </a:ext>
            </a:extLst>
          </p:cNvPr>
          <p:cNvSpPr/>
          <p:nvPr/>
        </p:nvSpPr>
        <p:spPr>
          <a:xfrm>
            <a:off x="8451851" y="1625833"/>
            <a:ext cx="2266950" cy="358138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0402EAD-CFE1-0DC9-F442-BE09AF3A0CC1}"/>
              </a:ext>
            </a:extLst>
          </p:cNvPr>
          <p:cNvSpPr/>
          <p:nvPr/>
        </p:nvSpPr>
        <p:spPr>
          <a:xfrm>
            <a:off x="8451852" y="1625833"/>
            <a:ext cx="2266949" cy="762019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Klasse PFR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52DA276-7222-E934-B8F9-83F6A7C5DE27}"/>
              </a:ext>
            </a:extLst>
          </p:cNvPr>
          <p:cNvSpPr/>
          <p:nvPr/>
        </p:nvSpPr>
        <p:spPr>
          <a:xfrm>
            <a:off x="5720081" y="1923382"/>
            <a:ext cx="1897380" cy="132550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Feste 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Temperatur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Druck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…</a:t>
            </a:r>
          </a:p>
        </p:txBody>
      </p: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8E61D105-567E-466B-A444-0295E35273FA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7617461" y="2006843"/>
            <a:ext cx="834391" cy="579293"/>
          </a:xfrm>
          <a:prstGeom prst="bentConnector3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6FEAAD0F-5FD1-7F34-94B4-A1CBB47B9FDA}"/>
              </a:ext>
            </a:extLst>
          </p:cNvPr>
          <p:cNvSpPr/>
          <p:nvPr/>
        </p:nvSpPr>
        <p:spPr>
          <a:xfrm>
            <a:off x="5720081" y="3468307"/>
            <a:ext cx="1897380" cy="158086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2"/>
                </a:solidFill>
              </a:rPr>
              <a:t>Parameter zum Optimieren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A/V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Durchmesser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2"/>
                </a:solidFill>
              </a:rPr>
              <a:t>Porosität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D3B3DB3B-B8CD-4BD7-9A61-422A189A2A6A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 flipV="1">
            <a:off x="7617461" y="3715642"/>
            <a:ext cx="931546" cy="543096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3B4CB226-7CA9-A1C0-1241-ADFF47F275E8}"/>
              </a:ext>
            </a:extLst>
          </p:cNvPr>
          <p:cNvSpPr/>
          <p:nvPr/>
        </p:nvSpPr>
        <p:spPr>
          <a:xfrm>
            <a:off x="8549007" y="3404185"/>
            <a:ext cx="2072638" cy="622913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3"/>
                </a:solidFill>
              </a:rPr>
              <a:t>Methan berechnen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E2087F7-6BD5-71B3-7AE2-5624007DD992}"/>
              </a:ext>
            </a:extLst>
          </p:cNvPr>
          <p:cNvSpPr/>
          <p:nvPr/>
        </p:nvSpPr>
        <p:spPr>
          <a:xfrm>
            <a:off x="8549007" y="2525943"/>
            <a:ext cx="2072638" cy="622913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3"/>
                </a:solidFill>
              </a:rPr>
              <a:t>Reaktor Simulieren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E308B5F-2980-5603-A13D-8AF3E460868D}"/>
              </a:ext>
            </a:extLst>
          </p:cNvPr>
          <p:cNvSpPr/>
          <p:nvPr/>
        </p:nvSpPr>
        <p:spPr>
          <a:xfrm>
            <a:off x="8549007" y="4339724"/>
            <a:ext cx="2072638" cy="622913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3"/>
                </a:solidFill>
              </a:rPr>
              <a:t>…</a:t>
            </a: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0971F1C8-7E80-4205-6858-09F4C0773A76}"/>
              </a:ext>
            </a:extLst>
          </p:cNvPr>
          <p:cNvSpPr txBox="1">
            <a:spLocks/>
          </p:cNvSpPr>
          <p:nvPr/>
        </p:nvSpPr>
        <p:spPr>
          <a:xfrm>
            <a:off x="708778" y="4047282"/>
            <a:ext cx="4381381" cy="1698198"/>
          </a:xfrm>
          <a:prstGeom prst="rect">
            <a:avLst/>
          </a:prstGeom>
          <a:solidFill>
            <a:srgbClr val="B4D8AE"/>
          </a:solidFill>
        </p:spPr>
        <p:txBody>
          <a:bodyPr lIns="0" rIns="0"/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Inhaltsplatzhalter 2">
                <a:extLst>
                  <a:ext uri="{FF2B5EF4-FFF2-40B4-BE49-F238E27FC236}">
                    <a16:creationId xmlns:a16="http://schemas.microsoft.com/office/drawing/2014/main" id="{B4594798-45B0-12EF-C12B-1CA71E8E0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8779" y="1625833"/>
                <a:ext cx="4381380" cy="2214509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lIns="108000" tIns="54000" rIns="108000" bIns="36000"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Clr>
                    <a:srgbClr val="004A7D"/>
                  </a:buClr>
                  <a:buSzPct val="110000"/>
                  <a:buFont typeface="Wingdings" pitchFamily="2" charset="2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Clr>
                    <a:srgbClr val="004A7D"/>
                  </a:buClr>
                  <a:buSzPct val="11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Clr>
                    <a:srgbClr val="004A7D"/>
                  </a:buClr>
                  <a:buSzPct val="110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Clr>
                    <a:srgbClr val="004A7D"/>
                  </a:buClr>
                  <a:buSzPct val="110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Clr>
                    <a:srgbClr val="004A7D"/>
                  </a:buClr>
                  <a:buSzPct val="11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Optimierungsziele:</a:t>
                </a:r>
                <a:br>
                  <a:rPr lang="de-DE" dirty="0"/>
                </a:br>
                <a:r>
                  <a:rPr lang="de-DE" dirty="0"/>
                  <a:t>Methanumsatz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de-DE" dirty="0"/>
                  <a:t> Katalysatorvolumen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Multikriterielle</a:t>
                </a:r>
                <a:r>
                  <a:rPr lang="de-DE" dirty="0"/>
                  <a:t> Optimierung mit Paket „</a:t>
                </a:r>
                <a:r>
                  <a:rPr lang="de-DE" dirty="0" err="1"/>
                  <a:t>pymoo</a:t>
                </a:r>
                <a:r>
                  <a:rPr lang="de-DE" dirty="0"/>
                  <a:t>“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dirty="0"/>
              </a:p>
            </p:txBody>
          </p:sp>
        </mc:Choice>
        <mc:Fallback>
          <p:sp>
            <p:nvSpPr>
              <p:cNvPr id="41" name="Inhaltsplatzhalter 2">
                <a:extLst>
                  <a:ext uri="{FF2B5EF4-FFF2-40B4-BE49-F238E27FC236}">
                    <a16:creationId xmlns:a16="http://schemas.microsoft.com/office/drawing/2014/main" id="{B4594798-45B0-12EF-C12B-1CA71E8E0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79" y="1625833"/>
                <a:ext cx="4381380" cy="2214509"/>
              </a:xfrm>
              <a:prstGeom prst="rect">
                <a:avLst/>
              </a:prstGeom>
              <a:blipFill>
                <a:blip r:embed="rId3"/>
                <a:stretch>
                  <a:fillRect l="-834" t="-1102" r="-2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44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73C1BF2-5B7B-29B3-714C-143DE7BC007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35FF265-A8B7-7D36-EF9C-FA0E78108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629158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CAD2-8F7A-75FB-B18F-377D622C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el 2">
            <a:extLst>
              <a:ext uri="{FF2B5EF4-FFF2-40B4-BE49-F238E27FC236}">
                <a16:creationId xmlns:a16="http://schemas.microsoft.com/office/drawing/2014/main" id="{7EEF54C0-C90C-1651-4951-9312320CE536}"/>
              </a:ext>
            </a:extLst>
          </p:cNvPr>
          <p:cNvSpPr txBox="1">
            <a:spLocks/>
          </p:cNvSpPr>
          <p:nvPr/>
        </p:nvSpPr>
        <p:spPr>
          <a:xfrm>
            <a:off x="760226" y="532176"/>
            <a:ext cx="10982536" cy="781764"/>
          </a:xfrm>
          <a:prstGeom prst="rect">
            <a:avLst/>
          </a:prstGeom>
        </p:spPr>
        <p:txBody>
          <a:bodyPr lIns="0" t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004A7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Motivation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7C61CDC-9EDF-40F0-42AA-1F4A220B6AA6}"/>
              </a:ext>
            </a:extLst>
          </p:cNvPr>
          <p:cNvSpPr txBox="1">
            <a:spLocks/>
          </p:cNvSpPr>
          <p:nvPr/>
        </p:nvSpPr>
        <p:spPr>
          <a:xfrm>
            <a:off x="8142762" y="990090"/>
            <a:ext cx="3600000" cy="5067454"/>
          </a:xfrm>
          <a:prstGeom prst="rect">
            <a:avLst/>
          </a:prstGeom>
          <a:solidFill>
            <a:srgbClr val="A1D9EF"/>
          </a:solidFill>
        </p:spPr>
        <p:txBody>
          <a:bodyPr lIns="108000" tIns="54000" rIns="108000" bIns="36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680F572-BE23-F3CB-661C-534173326C8F}"/>
              </a:ext>
            </a:extLst>
          </p:cNvPr>
          <p:cNvSpPr txBox="1">
            <a:spLocks/>
          </p:cNvSpPr>
          <p:nvPr/>
        </p:nvSpPr>
        <p:spPr>
          <a:xfrm>
            <a:off x="4201316" y="923058"/>
            <a:ext cx="3600000" cy="5134485"/>
          </a:xfrm>
          <a:prstGeom prst="rect">
            <a:avLst/>
          </a:prstGeom>
          <a:solidFill>
            <a:schemeClr val="accent4"/>
          </a:solidFill>
        </p:spPr>
        <p:txBody>
          <a:bodyPr lIns="108000" tIns="54000" rIns="108000" bIns="36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B7F277D-C30A-AF05-D600-555E76B4817D}"/>
              </a:ext>
            </a:extLst>
          </p:cNvPr>
          <p:cNvSpPr txBox="1">
            <a:spLocks/>
          </p:cNvSpPr>
          <p:nvPr/>
        </p:nvSpPr>
        <p:spPr>
          <a:xfrm>
            <a:off x="259870" y="923058"/>
            <a:ext cx="3600000" cy="5134485"/>
          </a:xfrm>
          <a:prstGeom prst="rect">
            <a:avLst/>
          </a:prstGeom>
          <a:solidFill>
            <a:srgbClr val="B4D8AE"/>
          </a:solidFill>
        </p:spPr>
        <p:txBody>
          <a:bodyPr lIns="0" rIns="0"/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971FF96-FB68-E197-4674-17249CB3024C}"/>
              </a:ext>
            </a:extLst>
          </p:cNvPr>
          <p:cNvSpPr txBox="1"/>
          <p:nvPr/>
        </p:nvSpPr>
        <p:spPr>
          <a:xfrm>
            <a:off x="1024859" y="1147125"/>
            <a:ext cx="2187720" cy="33363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noAutofit/>
          </a:bodyPr>
          <a:lstStyle/>
          <a:p>
            <a:pPr algn="l"/>
            <a:r>
              <a:rPr lang="de-DE" b="1" i="0" dirty="0"/>
              <a:t>Ausgangssituation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5664F8A-6538-3942-E101-503ED813B1F3}"/>
              </a:ext>
            </a:extLst>
          </p:cNvPr>
          <p:cNvSpPr txBox="1"/>
          <p:nvPr/>
        </p:nvSpPr>
        <p:spPr>
          <a:xfrm>
            <a:off x="4201317" y="1147125"/>
            <a:ext cx="3599999" cy="33363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noAutofit/>
          </a:bodyPr>
          <a:lstStyle/>
          <a:p>
            <a:pPr algn="ctr"/>
            <a:r>
              <a:rPr lang="de-DE" b="1" i="0" dirty="0"/>
              <a:t>Lösungsmöglichkeiten</a:t>
            </a:r>
          </a:p>
        </p:txBody>
      </p:sp>
      <p:pic>
        <p:nvPicPr>
          <p:cNvPr id="12" name="Picture 2" descr="Ursachen für Treibhausgasemissionen in der Industrie ">
            <a:extLst>
              <a:ext uri="{FF2B5EF4-FFF2-40B4-BE49-F238E27FC236}">
                <a16:creationId xmlns:a16="http://schemas.microsoft.com/office/drawing/2014/main" id="{C5B8B670-E3AB-5238-9E37-F703E491E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994" y="1637790"/>
            <a:ext cx="2922644" cy="164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7714461-2BF0-D819-9937-5039525C33E8}"/>
              </a:ext>
            </a:extLst>
          </p:cNvPr>
          <p:cNvSpPr txBox="1"/>
          <p:nvPr/>
        </p:nvSpPr>
        <p:spPr>
          <a:xfrm>
            <a:off x="451399" y="3576223"/>
            <a:ext cx="3375852" cy="2172211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b="1" dirty="0"/>
              <a:t>Ziel: Verringerung / Vermeidung von Treibhausgasemissionen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Ersetzen fossiler Energiequellen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i="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C9A4628-37AE-69EF-58AC-9BF8B2904060}"/>
              </a:ext>
            </a:extLst>
          </p:cNvPr>
          <p:cNvSpPr txBox="1"/>
          <p:nvPr/>
        </p:nvSpPr>
        <p:spPr>
          <a:xfrm>
            <a:off x="4313390" y="3557331"/>
            <a:ext cx="3375852" cy="2172211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b="1" dirty="0"/>
              <a:t>Reduzieren von </a:t>
            </a:r>
            <a:r>
              <a:rPr lang="de-DE" b="1" dirty="0" err="1"/>
              <a:t>Ausstroß</a:t>
            </a:r>
            <a:r>
              <a:rPr lang="de-DE" b="1" dirty="0"/>
              <a:t> von Treibhausgasen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Prozessbedingte Emissionen nicht vollständig durch Effizienz vermeidbar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Falls nicht vermeidbar: stoffliche Nutzung (CCU)</a:t>
            </a:r>
            <a:endParaRPr lang="de-DE" i="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FA332CA-3257-4B1B-4BBA-BDF7B85201A3}"/>
              </a:ext>
            </a:extLst>
          </p:cNvPr>
          <p:cNvSpPr txBox="1"/>
          <p:nvPr/>
        </p:nvSpPr>
        <p:spPr>
          <a:xfrm>
            <a:off x="8142763" y="1147125"/>
            <a:ext cx="3599999" cy="33363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noAutofit/>
          </a:bodyPr>
          <a:lstStyle/>
          <a:p>
            <a:pPr algn="ctr"/>
            <a:r>
              <a:rPr lang="de-DE" b="1" i="0" dirty="0"/>
              <a:t>Konkrete Umsetzung</a:t>
            </a:r>
          </a:p>
        </p:txBody>
      </p:sp>
      <p:pic>
        <p:nvPicPr>
          <p:cNvPr id="18" name="Picture 4" descr="Aktuelle Treibhausgas-Projektionen | Umweltbundesamt">
            <a:extLst>
              <a:ext uri="{FF2B5EF4-FFF2-40B4-BE49-F238E27FC236}">
                <a16:creationId xmlns:a16="http://schemas.microsoft.com/office/drawing/2014/main" id="{65CA339E-7421-ABEC-800D-64683ECF0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46" y="1583131"/>
            <a:ext cx="2583358" cy="169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Forschung | TU Bergakademie Freiberg">
            <a:extLst>
              <a:ext uri="{FF2B5EF4-FFF2-40B4-BE49-F238E27FC236}">
                <a16:creationId xmlns:a16="http://schemas.microsoft.com/office/drawing/2014/main" id="{AEA131AB-8496-62C4-C313-AF68A448D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923" y="1637791"/>
            <a:ext cx="2466361" cy="164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46BAE439-A811-2347-94C1-FC002D1CF786}"/>
              </a:ext>
            </a:extLst>
          </p:cNvPr>
          <p:cNvSpPr txBox="1"/>
          <p:nvPr/>
        </p:nvSpPr>
        <p:spPr>
          <a:xfrm>
            <a:off x="8249177" y="3557330"/>
            <a:ext cx="3375852" cy="2172211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i="0" dirty="0"/>
              <a:t>Vom CO</a:t>
            </a:r>
            <a:r>
              <a:rPr lang="en-US" b="1" baseline="-25000" dirty="0"/>
              <a:t>2</a:t>
            </a:r>
            <a:r>
              <a:rPr lang="de-DE" b="1" i="0" dirty="0"/>
              <a:t>-erzeugendem zu CO</a:t>
            </a:r>
            <a:r>
              <a:rPr lang="en-US" b="1" baseline="-25000" dirty="0"/>
              <a:t>2</a:t>
            </a:r>
            <a:r>
              <a:rPr lang="de-DE" b="1" i="0" dirty="0"/>
              <a:t>-verwertendem Prozess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Bekannten Prozess modifizieren, CO</a:t>
            </a:r>
            <a:r>
              <a:rPr lang="en-US" baseline="-25000" dirty="0"/>
              <a:t>2</a:t>
            </a:r>
            <a:r>
              <a:rPr lang="de-DE" dirty="0"/>
              <a:t> als stoffliche Nutzung</a:t>
            </a:r>
          </a:p>
        </p:txBody>
      </p:sp>
    </p:spTree>
    <p:extLst>
      <p:ext uri="{BB962C8B-B14F-4D97-AF65-F5344CB8AC3E}">
        <p14:creationId xmlns:p14="http://schemas.microsoft.com/office/powerpoint/2010/main" val="236788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73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EAC69-FD65-F854-D5FC-FE32D657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E7AF8D0-0F6A-9358-23FB-B1FFC9BA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6" y="532176"/>
            <a:ext cx="10982536" cy="781764"/>
          </a:xfrm>
        </p:spPr>
        <p:txBody>
          <a:bodyPr>
            <a:normAutofit/>
          </a:bodyPr>
          <a:lstStyle/>
          <a:p>
            <a:r>
              <a:rPr lang="de-DE" dirty="0"/>
              <a:t>Für eventuelle Nachfragen: Mechanismen</a:t>
            </a:r>
          </a:p>
        </p:txBody>
      </p:sp>
      <p:pic>
        <p:nvPicPr>
          <p:cNvPr id="7" name="Grafik 6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122D78C6-DFCF-F7E3-BCA9-F97712FFC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084001"/>
            <a:ext cx="6351650" cy="2646521"/>
          </a:xfrm>
          <a:prstGeom prst="rect">
            <a:avLst/>
          </a:prstGeom>
        </p:spPr>
      </p:pic>
      <p:pic>
        <p:nvPicPr>
          <p:cNvPr id="9" name="Grafik 8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C951DCE8-671C-AEB2-D78B-25FEED5C5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09" y="3730522"/>
            <a:ext cx="9865555" cy="246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239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B2AE0-5D57-2505-B3E8-75E12545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69" y="532176"/>
            <a:ext cx="4016880" cy="781764"/>
          </a:xfrm>
        </p:spPr>
        <p:txBody>
          <a:bodyPr/>
          <a:lstStyle/>
          <a:p>
            <a:r>
              <a:rPr lang="de-DE" dirty="0"/>
              <a:t>Für eventuelle Nachfragen: Mechanismen</a:t>
            </a:r>
          </a:p>
        </p:txBody>
      </p:sp>
      <p:pic>
        <p:nvPicPr>
          <p:cNvPr id="6" name="Grafik 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08EC0BED-83FC-E379-59FF-A44E4A072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648" y="84908"/>
            <a:ext cx="7798351" cy="3188964"/>
          </a:xfrm>
          <a:prstGeom prst="rect">
            <a:avLst/>
          </a:prstGeom>
        </p:spPr>
      </p:pic>
      <p:pic>
        <p:nvPicPr>
          <p:cNvPr id="8" name="Grafik 7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D3CD29EF-14A4-F9B3-D9E6-BB93BC3F4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649" y="3188964"/>
            <a:ext cx="6667640" cy="333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07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E117-3F63-4E0C-187B-EE7E1B0C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A056B-E098-3375-D461-87580180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4091906" cy="781764"/>
          </a:xfrm>
        </p:spPr>
        <p:txBody>
          <a:bodyPr/>
          <a:lstStyle/>
          <a:p>
            <a:r>
              <a:rPr lang="de-DE" dirty="0"/>
              <a:t>Für eventuelle Nachfragen:</a:t>
            </a:r>
            <a:br>
              <a:rPr lang="de-DE" dirty="0"/>
            </a:br>
            <a:r>
              <a:rPr lang="de-DE" dirty="0"/>
              <a:t>Erweiterungen</a:t>
            </a:r>
          </a:p>
        </p:txBody>
      </p:sp>
      <p:pic>
        <p:nvPicPr>
          <p:cNvPr id="4" name="Grafik 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1CBA3703-B948-F241-A971-50FE08137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581" y="3251203"/>
            <a:ext cx="6921511" cy="3460756"/>
          </a:xfrm>
          <a:prstGeom prst="rect">
            <a:avLst/>
          </a:prstGeom>
        </p:spPr>
      </p:pic>
      <p:pic>
        <p:nvPicPr>
          <p:cNvPr id="6" name="Grafik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A6ACECA9-D81A-1D05-A067-CFF377D76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57" y="0"/>
            <a:ext cx="6921511" cy="3460756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6EA6CEB9-8071-71C3-140E-7D163E670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702778"/>
              </p:ext>
            </p:extLst>
          </p:nvPr>
        </p:nvGraphicFramePr>
        <p:xfrm>
          <a:off x="760227" y="1593707"/>
          <a:ext cx="3485478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739">
                  <a:extLst>
                    <a:ext uri="{9D8B030D-6E8A-4147-A177-3AD203B41FA5}">
                      <a16:colId xmlns:a16="http://schemas.microsoft.com/office/drawing/2014/main" val="2832083529"/>
                    </a:ext>
                  </a:extLst>
                </a:gridCol>
                <a:gridCol w="1742739">
                  <a:extLst>
                    <a:ext uri="{9D8B030D-6E8A-4147-A177-3AD203B41FA5}">
                      <a16:colId xmlns:a16="http://schemas.microsoft.com/office/drawing/2014/main" val="2647047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Modell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Rechenzeit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55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2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886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13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312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00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745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3449-56C7-5611-7089-B6F99251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5149C-CFE9-81C1-6DDF-6B3E33DA5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27" y="532176"/>
            <a:ext cx="10982536" cy="781764"/>
          </a:xfrm>
        </p:spPr>
        <p:txBody>
          <a:bodyPr>
            <a:normAutofit/>
          </a:bodyPr>
          <a:lstStyle/>
          <a:p>
            <a:r>
              <a:rPr lang="de-DE" dirty="0"/>
              <a:t>Für eventuelle Nachfragen: Parameterstudie</a:t>
            </a:r>
          </a:p>
        </p:txBody>
      </p:sp>
      <p:pic>
        <p:nvPicPr>
          <p:cNvPr id="4" name="Grafik 3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7E81DDEE-55B1-20A6-9987-95D87A252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"/>
          <a:stretch>
            <a:fillRect/>
          </a:stretch>
        </p:blipFill>
        <p:spPr>
          <a:xfrm>
            <a:off x="547134" y="1403923"/>
            <a:ext cx="5764374" cy="3006152"/>
          </a:xfrm>
          <a:prstGeom prst="rect">
            <a:avLst/>
          </a:prstGeom>
          <a:noFill/>
        </p:spPr>
      </p:pic>
      <p:pic>
        <p:nvPicPr>
          <p:cNvPr id="5" name="Grafik 4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D6359963-344A-B068-72B7-9743F0E58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763" y="1403923"/>
            <a:ext cx="5310000" cy="33453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8063183"/>
      </p:ext>
    </p:extLst>
  </p:cSld>
  <p:clrMapOvr>
    <a:masterClrMapping/>
  </p:clrMapOvr>
</p:sld>
</file>

<file path=ppt/theme/theme1.xml><?xml version="1.0" encoding="utf-8"?>
<a:theme xmlns:a="http://schemas.openxmlformats.org/drawingml/2006/main" name="TUBAF MTK - harmonisch">
  <a:themeElements>
    <a:clrScheme name="TUBAF &amp; Akzentfarben">
      <a:dk1>
        <a:sysClr val="windowText" lastClr="000000"/>
      </a:dk1>
      <a:lt1>
        <a:sysClr val="window" lastClr="FFFFFF"/>
      </a:lt1>
      <a:dk2>
        <a:srgbClr val="00477E"/>
      </a:dk2>
      <a:lt2>
        <a:srgbClr val="E7E6E6"/>
      </a:lt2>
      <a:accent1>
        <a:srgbClr val="0064A8"/>
      </a:accent1>
      <a:accent2>
        <a:srgbClr val="EF8903"/>
      </a:accent2>
      <a:accent3>
        <a:srgbClr val="CC0E21"/>
      </a:accent3>
      <a:accent4>
        <a:srgbClr val="FEDD9D"/>
      </a:accent4>
      <a:accent5>
        <a:srgbClr val="B4D8AE"/>
      </a:accent5>
      <a:accent6>
        <a:srgbClr val="A1D9EF"/>
      </a:accent6>
      <a:hlink>
        <a:srgbClr val="10BAE6"/>
      </a:hlink>
      <a:folHlink>
        <a:srgbClr val="1995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 anchor="t">
        <a:noAutofit/>
      </a:bodyPr>
      <a:lstStyle>
        <a:defPPr algn="l">
          <a:defRPr i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CD6EA72-AF7F-462F-9AC0-76C9F8BA9064}" vid="{57E2CBE2-615A-4F91-98CE-C6E42D9E22C3}"/>
    </a:ext>
  </a:extLst>
</a:theme>
</file>

<file path=ppt/theme/theme2.xml><?xml version="1.0" encoding="utf-8"?>
<a:theme xmlns:a="http://schemas.openxmlformats.org/drawingml/2006/main" name="TUBAF Blau - monochromatisch">
  <a:themeElements>
    <a:clrScheme name="TUBAF Blau">
      <a:dk1>
        <a:sysClr val="windowText" lastClr="000000"/>
      </a:dk1>
      <a:lt1>
        <a:sysClr val="window" lastClr="FFFFFF"/>
      </a:lt1>
      <a:dk2>
        <a:srgbClr val="00477E"/>
      </a:dk2>
      <a:lt2>
        <a:srgbClr val="E7E6E6"/>
      </a:lt2>
      <a:accent1>
        <a:srgbClr val="0064A8"/>
      </a:accent1>
      <a:accent2>
        <a:srgbClr val="DBEAF4"/>
      </a:accent2>
      <a:accent3>
        <a:srgbClr val="B8D5EA"/>
      </a:accent3>
      <a:accent4>
        <a:srgbClr val="94C0E0"/>
      </a:accent4>
      <a:accent5>
        <a:srgbClr val="70ABD5"/>
      </a:accent5>
      <a:accent6>
        <a:srgbClr val="4C96CA"/>
      </a:accent6>
      <a:hlink>
        <a:srgbClr val="2981C0"/>
      </a:hlink>
      <a:folHlink>
        <a:srgbClr val="056C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108000" tIns="64800" rIns="108000" bIns="108000" rtlCol="0" anchor="t">
        <a:noAutofit/>
      </a:bodyPr>
      <a:lstStyle>
        <a:defPPr algn="l">
          <a:defRPr i="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CD6EA72-AF7F-462F-9AC0-76C9F8BA9064}" vid="{57E2CBE2-615A-4F91-98CE-C6E42D9E22C3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233</Words>
  <Application>Microsoft Office PowerPoint</Application>
  <PresentationFormat>Breitbild</PresentationFormat>
  <Paragraphs>77</Paragraphs>
  <Slides>10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Spartan ExtraBold</vt:lpstr>
      <vt:lpstr>Wingdings</vt:lpstr>
      <vt:lpstr>TUBAF MTK - harmonisch</vt:lpstr>
      <vt:lpstr>TUBAF Blau - monochromatisch</vt:lpstr>
      <vt:lpstr>Modellierung und Optimierung chemischer Reaktoren </vt:lpstr>
      <vt:lpstr>Koppeln des Reaktormodells mit einkriterieller Optimierung</vt:lpstr>
      <vt:lpstr>Multikriterielle Optimierung</vt:lpstr>
      <vt:lpstr>Test</vt:lpstr>
      <vt:lpstr>PowerPoint-Präsentation</vt:lpstr>
      <vt:lpstr>PowerPoint-Präsentation</vt:lpstr>
      <vt:lpstr>Für eventuelle Nachfragen: Mechanismen</vt:lpstr>
      <vt:lpstr>Für eventuelle Nachfragen: Mechanismen</vt:lpstr>
      <vt:lpstr>Für eventuelle Nachfragen: Erweiterungen</vt:lpstr>
      <vt:lpstr>Für eventuelle Nachfragen: Parameterstudie</vt:lpstr>
    </vt:vector>
  </TitlesOfParts>
  <Manager/>
  <Company>TU Bergakademie Freiberg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Sophie Rodmacher</dc:creator>
  <cp:keywords/>
  <dc:description/>
  <cp:lastModifiedBy>Erik Domogalla</cp:lastModifiedBy>
  <cp:revision>425</cp:revision>
  <cp:lastPrinted>2023-04-13T13:19:24Z</cp:lastPrinted>
  <dcterms:created xsi:type="dcterms:W3CDTF">2021-01-06T10:07:23Z</dcterms:created>
  <dcterms:modified xsi:type="dcterms:W3CDTF">2026-01-31T18:40:18Z</dcterms:modified>
  <cp:category/>
</cp:coreProperties>
</file>